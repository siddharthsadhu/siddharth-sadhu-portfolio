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Canva Sans Bold" charset="1" panose="020B0803030501040103"/>
      <p:regular r:id="rId19"/>
    </p:embeddedFont>
    <p:embeddedFont>
      <p:font typeface="DM Sans Bold" charset="1" panose="00000000000000000000"/>
      <p:regular r:id="rId20"/>
    </p:embeddedFont>
    <p:embeddedFont>
      <p:font typeface="DM Sans Italics" charset="1" panose="00000000000000000000"/>
      <p:regular r:id="rId21"/>
    </p:embeddedFont>
    <p:embeddedFont>
      <p:font typeface="Bebas Neue Bold" charset="1" panose="020B0606020202050201"/>
      <p:regular r:id="rId22"/>
    </p:embeddedFont>
    <p:embeddedFont>
      <p:font typeface="DM Sans" charset="1" panose="00000000000000000000"/>
      <p:regular r:id="rId23"/>
    </p:embeddedFont>
    <p:embeddedFont>
      <p:font typeface="Canva Sans" charset="1" panose="020B0503030501040103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7.png" Type="http://schemas.openxmlformats.org/officeDocument/2006/relationships/image"/><Relationship Id="rId6" Target="../media/image6.png" Type="http://schemas.openxmlformats.org/officeDocument/2006/relationships/image"/><Relationship Id="rId7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7.png" Type="http://schemas.openxmlformats.org/officeDocument/2006/relationships/image"/><Relationship Id="rId6" Target="../media/image3.pn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5.png" Type="http://schemas.openxmlformats.org/officeDocument/2006/relationships/image"/><Relationship Id="rId6" Target="../media/image7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15.png" Type="http://schemas.openxmlformats.org/officeDocument/2006/relationships/image"/><Relationship Id="rId6" Target="../media/image3.png" Type="http://schemas.openxmlformats.org/officeDocument/2006/relationships/image"/><Relationship Id="rId7" Target="../media/image16.pn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7.png" Type="http://schemas.openxmlformats.org/officeDocument/2006/relationships/image"/><Relationship Id="rId6" Target="../media/image6.png" Type="http://schemas.openxmlformats.org/officeDocument/2006/relationships/image"/><Relationship Id="rId7" Target="../media/image20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png" Type="http://schemas.openxmlformats.org/officeDocument/2006/relationships/image"/><Relationship Id="rId12" Target="../media/image27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Relationship Id="rId8" Target="../media/image23.pn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Relationship Id="rId8" Target="../media/image28.pn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14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14.png" Type="http://schemas.openxmlformats.org/officeDocument/2006/relationships/image"/><Relationship Id="rId6" Target="../media/image7.png" Type="http://schemas.openxmlformats.org/officeDocument/2006/relationships/image"/><Relationship Id="rId7" Target="../media/image32.png" Type="http://schemas.openxmlformats.org/officeDocument/2006/relationships/image"/><Relationship Id="rId8" Target="../embeddings/oleObject1.bin" Type="http://schemas.openxmlformats.org/officeDocument/2006/relationships/oleObjec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6.png" Type="http://schemas.openxmlformats.org/officeDocument/2006/relationships/image"/><Relationship Id="rId6" Target="../media/image3.png" Type="http://schemas.openxmlformats.org/officeDocument/2006/relationships/image"/><Relationship Id="rId7" Target="../media/image3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6.png" Type="http://schemas.openxmlformats.org/officeDocument/2006/relationships/image"/><Relationship Id="rId6" Target="../media/image3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14.png" Type="http://schemas.openxmlformats.org/officeDocument/2006/relationships/image"/><Relationship Id="rId6" Target="../media/image3.png" Type="http://schemas.openxmlformats.org/officeDocument/2006/relationships/image"/><Relationship Id="rId7" Target="../media/image6.png" Type="http://schemas.openxmlformats.org/officeDocument/2006/relationships/image"/><Relationship Id="rId8" Target="../media/image35.png" Type="http://schemas.openxmlformats.org/officeDocument/2006/relationships/image"/><Relationship Id="rId9" Target="../media/image3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22002" y="-221424"/>
            <a:ext cx="18685176" cy="10804102"/>
          </a:xfrm>
          <a:custGeom>
            <a:avLst/>
            <a:gdLst/>
            <a:ahLst/>
            <a:cxnLst/>
            <a:rect r="r" b="b" t="t" l="l"/>
            <a:pathLst>
              <a:path h="10804102" w="18685176">
                <a:moveTo>
                  <a:pt x="0" y="0"/>
                </a:moveTo>
                <a:lnTo>
                  <a:pt x="18685176" y="0"/>
                </a:lnTo>
                <a:lnTo>
                  <a:pt x="18685176" y="10804102"/>
                </a:lnTo>
                <a:lnTo>
                  <a:pt x="0" y="108041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504" t="-41243" r="-1755" b="-3733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08845" y="3158949"/>
            <a:ext cx="8733990" cy="1984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555"/>
              </a:lnSpc>
              <a:spcBef>
                <a:spcPct val="0"/>
              </a:spcBef>
            </a:pPr>
            <a:r>
              <a:rPr lang="en-US" b="true" sz="18318" spc="-1007">
                <a:solidFill>
                  <a:srgbClr val="661CA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SaralAI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531881" y="1666719"/>
            <a:ext cx="9144000" cy="8229600"/>
          </a:xfrm>
          <a:custGeom>
            <a:avLst/>
            <a:gdLst/>
            <a:ahLst/>
            <a:cxnLst/>
            <a:rect r="r" b="b" t="t" l="l"/>
            <a:pathLst>
              <a:path h="8229600" w="9144000">
                <a:moveTo>
                  <a:pt x="0" y="0"/>
                </a:moveTo>
                <a:lnTo>
                  <a:pt x="9144000" y="0"/>
                </a:lnTo>
                <a:lnTo>
                  <a:pt x="91440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531881" y="792324"/>
            <a:ext cx="7499589" cy="8702353"/>
          </a:xfrm>
          <a:custGeom>
            <a:avLst/>
            <a:gdLst/>
            <a:ahLst/>
            <a:cxnLst/>
            <a:rect r="r" b="b" t="t" l="l"/>
            <a:pathLst>
              <a:path h="8702353" w="7499589">
                <a:moveTo>
                  <a:pt x="0" y="0"/>
                </a:moveTo>
                <a:lnTo>
                  <a:pt x="7499588" y="0"/>
                </a:lnTo>
                <a:lnTo>
                  <a:pt x="7499588" y="8702352"/>
                </a:lnTo>
                <a:lnTo>
                  <a:pt x="0" y="87023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234074" y="3494458"/>
            <a:ext cx="3797395" cy="3298084"/>
          </a:xfrm>
          <a:custGeom>
            <a:avLst/>
            <a:gdLst/>
            <a:ahLst/>
            <a:cxnLst/>
            <a:rect r="r" b="b" t="t" l="l"/>
            <a:pathLst>
              <a:path h="3298084" w="3797395">
                <a:moveTo>
                  <a:pt x="0" y="0"/>
                </a:moveTo>
                <a:lnTo>
                  <a:pt x="3797395" y="0"/>
                </a:lnTo>
                <a:lnTo>
                  <a:pt x="3797395" y="3298084"/>
                </a:lnTo>
                <a:lnTo>
                  <a:pt x="0" y="32980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9762690" y="3494458"/>
            <a:ext cx="3797395" cy="3298084"/>
          </a:xfrm>
          <a:custGeom>
            <a:avLst/>
            <a:gdLst/>
            <a:ahLst/>
            <a:cxnLst/>
            <a:rect r="r" b="b" t="t" l="l"/>
            <a:pathLst>
              <a:path h="3298084" w="3797395">
                <a:moveTo>
                  <a:pt x="3797395" y="0"/>
                </a:moveTo>
                <a:lnTo>
                  <a:pt x="0" y="0"/>
                </a:lnTo>
                <a:lnTo>
                  <a:pt x="0" y="3298084"/>
                </a:lnTo>
                <a:lnTo>
                  <a:pt x="3797395" y="3298084"/>
                </a:lnTo>
                <a:lnTo>
                  <a:pt x="3797395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614709">
            <a:off x="16257763" y="626428"/>
            <a:ext cx="4060475" cy="3476781"/>
          </a:xfrm>
          <a:custGeom>
            <a:avLst/>
            <a:gdLst/>
            <a:ahLst/>
            <a:cxnLst/>
            <a:rect r="r" b="b" t="t" l="l"/>
            <a:pathLst>
              <a:path h="3476781" w="4060475">
                <a:moveTo>
                  <a:pt x="0" y="0"/>
                </a:moveTo>
                <a:lnTo>
                  <a:pt x="4060474" y="0"/>
                </a:lnTo>
                <a:lnTo>
                  <a:pt x="4060474" y="3476781"/>
                </a:lnTo>
                <a:lnTo>
                  <a:pt x="0" y="347678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614709">
            <a:off x="9273267" y="8038852"/>
            <a:ext cx="1896123" cy="1623556"/>
          </a:xfrm>
          <a:custGeom>
            <a:avLst/>
            <a:gdLst/>
            <a:ahLst/>
            <a:cxnLst/>
            <a:rect r="r" b="b" t="t" l="l"/>
            <a:pathLst>
              <a:path h="1623556" w="1896123">
                <a:moveTo>
                  <a:pt x="0" y="0"/>
                </a:moveTo>
                <a:lnTo>
                  <a:pt x="1896123" y="0"/>
                </a:lnTo>
                <a:lnTo>
                  <a:pt x="1896123" y="1623556"/>
                </a:lnTo>
                <a:lnTo>
                  <a:pt x="0" y="16235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2700000">
            <a:off x="8583819" y="1553041"/>
            <a:ext cx="1896123" cy="1623556"/>
          </a:xfrm>
          <a:custGeom>
            <a:avLst/>
            <a:gdLst/>
            <a:ahLst/>
            <a:cxnLst/>
            <a:rect r="r" b="b" t="t" l="l"/>
            <a:pathLst>
              <a:path h="1623556" w="1896123">
                <a:moveTo>
                  <a:pt x="0" y="0"/>
                </a:moveTo>
                <a:lnTo>
                  <a:pt x="1896123" y="0"/>
                </a:lnTo>
                <a:lnTo>
                  <a:pt x="1896123" y="1623556"/>
                </a:lnTo>
                <a:lnTo>
                  <a:pt x="0" y="16235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-1578996" y="56480"/>
            <a:ext cx="5775683" cy="8229600"/>
          </a:xfrm>
          <a:custGeom>
            <a:avLst/>
            <a:gdLst/>
            <a:ahLst/>
            <a:cxnLst/>
            <a:rect r="r" b="b" t="t" l="l"/>
            <a:pathLst>
              <a:path h="8229600" w="5775683">
                <a:moveTo>
                  <a:pt x="0" y="0"/>
                </a:moveTo>
                <a:lnTo>
                  <a:pt x="5775683" y="0"/>
                </a:lnTo>
                <a:lnTo>
                  <a:pt x="577568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180979" y="5379073"/>
            <a:ext cx="7963021" cy="689657"/>
            <a:chOff x="0" y="0"/>
            <a:chExt cx="2097257" cy="18163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97257" cy="181638"/>
            </a:xfrm>
            <a:custGeom>
              <a:avLst/>
              <a:gdLst/>
              <a:ahLst/>
              <a:cxnLst/>
              <a:rect r="r" b="b" t="t" l="l"/>
              <a:pathLst>
                <a:path h="181638" w="2097257">
                  <a:moveTo>
                    <a:pt x="0" y="0"/>
                  </a:moveTo>
                  <a:lnTo>
                    <a:pt x="2097257" y="0"/>
                  </a:lnTo>
                  <a:lnTo>
                    <a:pt x="2097257" y="181638"/>
                  </a:lnTo>
                  <a:lnTo>
                    <a:pt x="0" y="181638"/>
                  </a:lnTo>
                  <a:close/>
                </a:path>
              </a:pathLst>
            </a:custGeom>
            <a:solidFill>
              <a:srgbClr val="883EC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097257" cy="2197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749533" y="5274298"/>
            <a:ext cx="8782348" cy="1783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95"/>
              </a:lnSpc>
              <a:spcBef>
                <a:spcPct val="0"/>
              </a:spcBef>
            </a:pPr>
            <a:r>
              <a:rPr lang="en-US" b="true" sz="5139" spc="-200">
                <a:solidFill>
                  <a:srgbClr val="FF9ADB"/>
                </a:solidFill>
                <a:latin typeface="DM Sans Bold"/>
                <a:ea typeface="DM Sans Bold"/>
                <a:cs typeface="DM Sans Bold"/>
                <a:sym typeface="DM Sans Bold"/>
              </a:rPr>
              <a:t>VO</a:t>
            </a:r>
            <a:r>
              <a:rPr lang="en-US" b="true" sz="5139" spc="-200">
                <a:solidFill>
                  <a:srgbClr val="FF9ADB"/>
                </a:solidFill>
                <a:latin typeface="DM Sans Bold"/>
                <a:ea typeface="DM Sans Bold"/>
                <a:cs typeface="DM Sans Bold"/>
                <a:sym typeface="DM Sans Bold"/>
              </a:rPr>
              <a:t>ICE-FIRST AI ASSISTANT FOR GOVERNMENT SCHEMES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28700" y="7363077"/>
            <a:ext cx="7935362" cy="647928"/>
            <a:chOff x="0" y="0"/>
            <a:chExt cx="10580483" cy="863905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0580483" cy="863905"/>
              <a:chOff x="0" y="0"/>
              <a:chExt cx="1776434" cy="145047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776434" cy="145047"/>
              </a:xfrm>
              <a:custGeom>
                <a:avLst/>
                <a:gdLst/>
                <a:ahLst/>
                <a:cxnLst/>
                <a:rect r="r" b="b" t="t" l="l"/>
                <a:pathLst>
                  <a:path h="145047" w="1776434">
                    <a:moveTo>
                      <a:pt x="0" y="0"/>
                    </a:moveTo>
                    <a:lnTo>
                      <a:pt x="1776434" y="0"/>
                    </a:lnTo>
                    <a:lnTo>
                      <a:pt x="1776434" y="145047"/>
                    </a:lnTo>
                    <a:lnTo>
                      <a:pt x="0" y="145047"/>
                    </a:lnTo>
                    <a:close/>
                  </a:path>
                </a:pathLst>
              </a:custGeom>
              <a:solidFill>
                <a:srgbClr val="FF9ADB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1776434" cy="1831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217387" y="75486"/>
              <a:ext cx="10363097" cy="6557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60"/>
                </a:lnSpc>
                <a:spcBef>
                  <a:spcPct val="0"/>
                </a:spcBef>
              </a:pPr>
              <a:r>
                <a:rPr lang="en-US" sz="2971" i="true">
                  <a:solidFill>
                    <a:srgbClr val="FFFFFF"/>
                  </a:solidFill>
                  <a:latin typeface="DM Sans Italics"/>
                  <a:ea typeface="DM Sans Italics"/>
                  <a:cs typeface="DM Sans Italics"/>
                  <a:sym typeface="DM Sans Italics"/>
                </a:rPr>
                <a:t>Simplif</a:t>
              </a:r>
              <a:r>
                <a:rPr lang="en-US" sz="2971" i="true">
                  <a:solidFill>
                    <a:srgbClr val="FFFFFF"/>
                  </a:solidFill>
                  <a:latin typeface="DM Sans Italics"/>
                  <a:ea typeface="DM Sans Italics"/>
                  <a:cs typeface="DM Sans Italics"/>
                  <a:sym typeface="DM Sans Italics"/>
                </a:rPr>
                <a:t>ying access to government schemes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true" flipV="true" rot="5400000">
            <a:off x="12244930" y="-933912"/>
            <a:ext cx="5775683" cy="8229600"/>
          </a:xfrm>
          <a:custGeom>
            <a:avLst/>
            <a:gdLst/>
            <a:ahLst/>
            <a:cxnLst/>
            <a:rect r="r" b="b" t="t" l="l"/>
            <a:pathLst>
              <a:path h="8229600" w="5775683">
                <a:moveTo>
                  <a:pt x="5775683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5775683" y="0"/>
                </a:lnTo>
                <a:lnTo>
                  <a:pt x="5775683" y="822960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028700" y="8267335"/>
            <a:ext cx="3425104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April 23</a:t>
            </a:r>
            <a:r>
              <a:rPr lang="en-US" b="true" sz="2699" strike="noStrike" u="non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, 2026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031406" y="8267335"/>
            <a:ext cx="5265648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9"/>
              </a:lnSpc>
              <a:spcBef>
                <a:spcPct val="0"/>
              </a:spcBef>
            </a:pPr>
            <a:r>
              <a:rPr lang="en-US" b="true" sz="2699" strike="noStrike" u="non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Presented by Siddharth Sadhu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22002" y="-221424"/>
            <a:ext cx="18685176" cy="10804102"/>
          </a:xfrm>
          <a:custGeom>
            <a:avLst/>
            <a:gdLst/>
            <a:ahLst/>
            <a:cxnLst/>
            <a:rect r="r" b="b" t="t" l="l"/>
            <a:pathLst>
              <a:path h="10804102" w="18685176">
                <a:moveTo>
                  <a:pt x="0" y="0"/>
                </a:moveTo>
                <a:lnTo>
                  <a:pt x="18685176" y="0"/>
                </a:lnTo>
                <a:lnTo>
                  <a:pt x="18685176" y="10804102"/>
                </a:lnTo>
                <a:lnTo>
                  <a:pt x="0" y="108041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504" t="-41243" r="-1755" b="-3733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41754" y="4039413"/>
            <a:ext cx="5792022" cy="6543265"/>
          </a:xfrm>
          <a:custGeom>
            <a:avLst/>
            <a:gdLst/>
            <a:ahLst/>
            <a:cxnLst/>
            <a:rect r="r" b="b" t="t" l="l"/>
            <a:pathLst>
              <a:path h="6543265" w="5792022">
                <a:moveTo>
                  <a:pt x="0" y="0"/>
                </a:moveTo>
                <a:lnTo>
                  <a:pt x="5792022" y="0"/>
                </a:lnTo>
                <a:lnTo>
                  <a:pt x="5792022" y="6543265"/>
                </a:lnTo>
                <a:lnTo>
                  <a:pt x="0" y="65432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409450" y="2157571"/>
            <a:ext cx="7469099" cy="164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117"/>
              </a:lnSpc>
              <a:spcBef>
                <a:spcPct val="0"/>
              </a:spcBef>
            </a:pPr>
            <a:r>
              <a:rPr lang="en-US" b="true" sz="15023" spc="-826">
                <a:solidFill>
                  <a:srgbClr val="661CAB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PROBLEM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819845" y="4565305"/>
            <a:ext cx="8321909" cy="5434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• Government scheme information is complex and scattered</a:t>
            </a:r>
          </a:p>
          <a:p>
            <a:pPr algn="ctr">
              <a:lnSpc>
                <a:spcPts val="3919"/>
              </a:lnSpc>
            </a:pP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• Many citizens do not know which schemes they qualify for</a:t>
            </a:r>
          </a:p>
          <a:p>
            <a:pPr algn="ctr">
              <a:lnSpc>
                <a:spcPts val="3919"/>
              </a:lnSpc>
            </a:pP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• Language barriers make official portals difficult to understand</a:t>
            </a:r>
          </a:p>
          <a:p>
            <a:pPr algn="ctr">
              <a:lnSpc>
                <a:spcPts val="3919"/>
              </a:lnSpc>
            </a:pP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• People struggle to find eligibility, documents, and application steps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0">
            <a:off x="-972177" y="4039413"/>
            <a:ext cx="5792022" cy="6543265"/>
          </a:xfrm>
          <a:custGeom>
            <a:avLst/>
            <a:gdLst/>
            <a:ahLst/>
            <a:cxnLst/>
            <a:rect r="r" b="b" t="t" l="l"/>
            <a:pathLst>
              <a:path h="6543265" w="5792022">
                <a:moveTo>
                  <a:pt x="5792022" y="0"/>
                </a:moveTo>
                <a:lnTo>
                  <a:pt x="0" y="0"/>
                </a:lnTo>
                <a:lnTo>
                  <a:pt x="0" y="6543265"/>
                </a:lnTo>
                <a:lnTo>
                  <a:pt x="5792022" y="6543265"/>
                </a:lnTo>
                <a:lnTo>
                  <a:pt x="5792022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3899053">
            <a:off x="-9683" y="1065827"/>
            <a:ext cx="5775683" cy="8229600"/>
          </a:xfrm>
          <a:custGeom>
            <a:avLst/>
            <a:gdLst/>
            <a:ahLst/>
            <a:cxnLst/>
            <a:rect r="r" b="b" t="t" l="l"/>
            <a:pathLst>
              <a:path h="8229600" w="5775683">
                <a:moveTo>
                  <a:pt x="5775683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5775683" y="0"/>
                </a:lnTo>
                <a:lnTo>
                  <a:pt x="5775683" y="822960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8100000">
            <a:off x="11882338" y="1865515"/>
            <a:ext cx="5775683" cy="8229600"/>
          </a:xfrm>
          <a:custGeom>
            <a:avLst/>
            <a:gdLst/>
            <a:ahLst/>
            <a:cxnLst/>
            <a:rect r="r" b="b" t="t" l="l"/>
            <a:pathLst>
              <a:path h="8229600" w="5775683">
                <a:moveTo>
                  <a:pt x="0" y="0"/>
                </a:moveTo>
                <a:lnTo>
                  <a:pt x="5775683" y="0"/>
                </a:lnTo>
                <a:lnTo>
                  <a:pt x="577568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2700000">
            <a:off x="1158968" y="3836638"/>
            <a:ext cx="1334525" cy="1142687"/>
          </a:xfrm>
          <a:custGeom>
            <a:avLst/>
            <a:gdLst/>
            <a:ahLst/>
            <a:cxnLst/>
            <a:rect r="r" b="b" t="t" l="l"/>
            <a:pathLst>
              <a:path h="1142687" w="1334525">
                <a:moveTo>
                  <a:pt x="0" y="0"/>
                </a:moveTo>
                <a:lnTo>
                  <a:pt x="1334525" y="0"/>
                </a:lnTo>
                <a:lnTo>
                  <a:pt x="1334525" y="1142686"/>
                </a:lnTo>
                <a:lnTo>
                  <a:pt x="0" y="11426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868698">
            <a:off x="13822118" y="1442193"/>
            <a:ext cx="1896123" cy="1623556"/>
          </a:xfrm>
          <a:custGeom>
            <a:avLst/>
            <a:gdLst/>
            <a:ahLst/>
            <a:cxnLst/>
            <a:rect r="r" b="b" t="t" l="l"/>
            <a:pathLst>
              <a:path h="1623556" w="1896123">
                <a:moveTo>
                  <a:pt x="0" y="0"/>
                </a:moveTo>
                <a:lnTo>
                  <a:pt x="1896123" y="0"/>
                </a:lnTo>
                <a:lnTo>
                  <a:pt x="1896123" y="1623556"/>
                </a:lnTo>
                <a:lnTo>
                  <a:pt x="0" y="16235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617979">
            <a:off x="-3544948" y="-1480780"/>
            <a:ext cx="6645893" cy="5981303"/>
          </a:xfrm>
          <a:custGeom>
            <a:avLst/>
            <a:gdLst/>
            <a:ahLst/>
            <a:cxnLst/>
            <a:rect r="r" b="b" t="t" l="l"/>
            <a:pathLst>
              <a:path h="5981303" w="6645893">
                <a:moveTo>
                  <a:pt x="0" y="0"/>
                </a:moveTo>
                <a:lnTo>
                  <a:pt x="6645892" y="0"/>
                </a:lnTo>
                <a:lnTo>
                  <a:pt x="6645892" y="5981303"/>
                </a:lnTo>
                <a:lnTo>
                  <a:pt x="0" y="59813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3196794">
            <a:off x="16203073" y="-600968"/>
            <a:ext cx="6645893" cy="5981303"/>
          </a:xfrm>
          <a:custGeom>
            <a:avLst/>
            <a:gdLst/>
            <a:ahLst/>
            <a:cxnLst/>
            <a:rect r="r" b="b" t="t" l="l"/>
            <a:pathLst>
              <a:path h="5981303" w="6645893">
                <a:moveTo>
                  <a:pt x="0" y="0"/>
                </a:moveTo>
                <a:lnTo>
                  <a:pt x="6645893" y="0"/>
                </a:lnTo>
                <a:lnTo>
                  <a:pt x="6645893" y="5981304"/>
                </a:lnTo>
                <a:lnTo>
                  <a:pt x="0" y="59813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8698575" y="3934985"/>
            <a:ext cx="844020" cy="208856"/>
            <a:chOff x="0" y="0"/>
            <a:chExt cx="1125361" cy="278475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278475" cy="278475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9ADB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416011" y="0"/>
              <a:ext cx="278475" cy="278475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2A9F1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846886" y="0"/>
              <a:ext cx="278475" cy="278475"/>
              <a:chOff x="0" y="0"/>
              <a:chExt cx="812800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83ECD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79538" y="-221424"/>
            <a:ext cx="18685176" cy="10804102"/>
          </a:xfrm>
          <a:custGeom>
            <a:avLst/>
            <a:gdLst/>
            <a:ahLst/>
            <a:cxnLst/>
            <a:rect r="r" b="b" t="t" l="l"/>
            <a:pathLst>
              <a:path h="10804102" w="18685176">
                <a:moveTo>
                  <a:pt x="0" y="0"/>
                </a:moveTo>
                <a:lnTo>
                  <a:pt x="18685176" y="0"/>
                </a:lnTo>
                <a:lnTo>
                  <a:pt x="18685176" y="10804102"/>
                </a:lnTo>
                <a:lnTo>
                  <a:pt x="0" y="108041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504" t="-41243" r="-1755" b="-3733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079251" y="7357912"/>
            <a:ext cx="2854525" cy="3224766"/>
          </a:xfrm>
          <a:custGeom>
            <a:avLst/>
            <a:gdLst/>
            <a:ahLst/>
            <a:cxnLst/>
            <a:rect r="r" b="b" t="t" l="l"/>
            <a:pathLst>
              <a:path h="3224766" w="2854525">
                <a:moveTo>
                  <a:pt x="0" y="0"/>
                </a:moveTo>
                <a:lnTo>
                  <a:pt x="2854525" y="0"/>
                </a:lnTo>
                <a:lnTo>
                  <a:pt x="2854525" y="3224766"/>
                </a:lnTo>
                <a:lnTo>
                  <a:pt x="0" y="32247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386036" y="229707"/>
            <a:ext cx="7583777" cy="1654460"/>
            <a:chOff x="0" y="0"/>
            <a:chExt cx="1997373" cy="43574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97373" cy="435743"/>
            </a:xfrm>
            <a:custGeom>
              <a:avLst/>
              <a:gdLst/>
              <a:ahLst/>
              <a:cxnLst/>
              <a:rect r="r" b="b" t="t" l="l"/>
              <a:pathLst>
                <a:path h="435743" w="1997373">
                  <a:moveTo>
                    <a:pt x="0" y="0"/>
                  </a:moveTo>
                  <a:lnTo>
                    <a:pt x="1997373" y="0"/>
                  </a:lnTo>
                  <a:lnTo>
                    <a:pt x="1997373" y="435743"/>
                  </a:lnTo>
                  <a:lnTo>
                    <a:pt x="0" y="43574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997373" cy="4738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5386036" y="528245"/>
            <a:ext cx="7469099" cy="164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117"/>
              </a:lnSpc>
              <a:spcBef>
                <a:spcPct val="0"/>
              </a:spcBef>
            </a:pPr>
            <a:r>
              <a:rPr lang="en-US" b="true" sz="15023" spc="-826">
                <a:solidFill>
                  <a:srgbClr val="661CAB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PROBLEM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8100000">
            <a:off x="13881559" y="4370989"/>
            <a:ext cx="4395384" cy="6262853"/>
          </a:xfrm>
          <a:custGeom>
            <a:avLst/>
            <a:gdLst/>
            <a:ahLst/>
            <a:cxnLst/>
            <a:rect r="r" b="b" t="t" l="l"/>
            <a:pathLst>
              <a:path h="6262853" w="4395384">
                <a:moveTo>
                  <a:pt x="0" y="0"/>
                </a:moveTo>
                <a:lnTo>
                  <a:pt x="4395384" y="0"/>
                </a:lnTo>
                <a:lnTo>
                  <a:pt x="4395384" y="6262853"/>
                </a:lnTo>
                <a:lnTo>
                  <a:pt x="0" y="62628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617979">
            <a:off x="-3152722" y="-2487830"/>
            <a:ext cx="6645893" cy="5981303"/>
          </a:xfrm>
          <a:custGeom>
            <a:avLst/>
            <a:gdLst/>
            <a:ahLst/>
            <a:cxnLst/>
            <a:rect r="r" b="b" t="t" l="l"/>
            <a:pathLst>
              <a:path h="5981303" w="6645893">
                <a:moveTo>
                  <a:pt x="0" y="0"/>
                </a:moveTo>
                <a:lnTo>
                  <a:pt x="6645893" y="0"/>
                </a:lnTo>
                <a:lnTo>
                  <a:pt x="6645893" y="5981303"/>
                </a:lnTo>
                <a:lnTo>
                  <a:pt x="0" y="59813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3196794">
            <a:off x="16203073" y="-1759707"/>
            <a:ext cx="6645893" cy="5981303"/>
          </a:xfrm>
          <a:custGeom>
            <a:avLst/>
            <a:gdLst/>
            <a:ahLst/>
            <a:cxnLst/>
            <a:rect r="r" b="b" t="t" l="l"/>
            <a:pathLst>
              <a:path h="5981303" w="6645893">
                <a:moveTo>
                  <a:pt x="0" y="0"/>
                </a:moveTo>
                <a:lnTo>
                  <a:pt x="6645893" y="0"/>
                </a:lnTo>
                <a:lnTo>
                  <a:pt x="6645893" y="5981304"/>
                </a:lnTo>
                <a:lnTo>
                  <a:pt x="0" y="59813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8698575" y="1967999"/>
            <a:ext cx="844020" cy="208856"/>
            <a:chOff x="0" y="0"/>
            <a:chExt cx="1125361" cy="278475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278475" cy="278475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9ADB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416011" y="0"/>
              <a:ext cx="278475" cy="278475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2A9F1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846886" y="0"/>
              <a:ext cx="278475" cy="278475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83ECD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21" id="21"/>
          <p:cNvSpPr/>
          <p:nvPr/>
        </p:nvSpPr>
        <p:spPr>
          <a:xfrm flipH="false" flipV="false" rot="0">
            <a:off x="736062" y="2657111"/>
            <a:ext cx="5091173" cy="3181983"/>
          </a:xfrm>
          <a:custGeom>
            <a:avLst/>
            <a:gdLst/>
            <a:ahLst/>
            <a:cxnLst/>
            <a:rect r="r" b="b" t="t" l="l"/>
            <a:pathLst>
              <a:path h="3181983" w="5091173">
                <a:moveTo>
                  <a:pt x="0" y="0"/>
                </a:moveTo>
                <a:lnTo>
                  <a:pt x="5091173" y="0"/>
                </a:lnTo>
                <a:lnTo>
                  <a:pt x="5091173" y="3181983"/>
                </a:lnTo>
                <a:lnTo>
                  <a:pt x="0" y="31819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1862803" y="2561697"/>
            <a:ext cx="5396497" cy="3372811"/>
          </a:xfrm>
          <a:custGeom>
            <a:avLst/>
            <a:gdLst/>
            <a:ahLst/>
            <a:cxnLst/>
            <a:rect r="r" b="b" t="t" l="l"/>
            <a:pathLst>
              <a:path h="3372811" w="5396497">
                <a:moveTo>
                  <a:pt x="0" y="0"/>
                </a:moveTo>
                <a:lnTo>
                  <a:pt x="5396497" y="0"/>
                </a:lnTo>
                <a:lnTo>
                  <a:pt x="5396497" y="3372811"/>
                </a:lnTo>
                <a:lnTo>
                  <a:pt x="0" y="33728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5986261" y="6411597"/>
            <a:ext cx="5876542" cy="3672839"/>
          </a:xfrm>
          <a:custGeom>
            <a:avLst/>
            <a:gdLst/>
            <a:ahLst/>
            <a:cxnLst/>
            <a:rect r="r" b="b" t="t" l="l"/>
            <a:pathLst>
              <a:path h="3672839" w="5876542">
                <a:moveTo>
                  <a:pt x="0" y="0"/>
                </a:moveTo>
                <a:lnTo>
                  <a:pt x="5876542" y="0"/>
                </a:lnTo>
                <a:lnTo>
                  <a:pt x="5876542" y="3672838"/>
                </a:lnTo>
                <a:lnTo>
                  <a:pt x="0" y="367283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8220919" y="2662666"/>
            <a:ext cx="1321677" cy="2753493"/>
          </a:xfrm>
          <a:custGeom>
            <a:avLst/>
            <a:gdLst/>
            <a:ahLst/>
            <a:cxnLst/>
            <a:rect r="r" b="b" t="t" l="l"/>
            <a:pathLst>
              <a:path h="2753493" w="1321677">
                <a:moveTo>
                  <a:pt x="0" y="0"/>
                </a:moveTo>
                <a:lnTo>
                  <a:pt x="1321677" y="0"/>
                </a:lnTo>
                <a:lnTo>
                  <a:pt x="1321677" y="2753494"/>
                </a:lnTo>
                <a:lnTo>
                  <a:pt x="0" y="275349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135258" y="2005752"/>
            <a:ext cx="206121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661CAB"/>
                </a:solidFill>
                <a:latin typeface="Canva Sans"/>
                <a:ea typeface="Canva Sans"/>
                <a:cs typeface="Canva Sans"/>
                <a:sym typeface="Canva Sans"/>
              </a:rPr>
              <a:t>PM KISAN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157954" y="1901324"/>
            <a:ext cx="480619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661CAB"/>
                </a:solidFill>
                <a:latin typeface="Canva Sans"/>
                <a:ea typeface="Canva Sans"/>
                <a:cs typeface="Canva Sans"/>
                <a:sym typeface="Canva Sans"/>
              </a:rPr>
              <a:t>PM Aayushman Bharat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049086" y="5772419"/>
            <a:ext cx="1591866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661CAB"/>
                </a:solidFill>
                <a:latin typeface="Canva Sans"/>
                <a:ea typeface="Canva Sans"/>
                <a:cs typeface="Canva Sans"/>
                <a:sym typeface="Canva Sans"/>
              </a:rPr>
              <a:t>PM JDY</a:t>
            </a:r>
          </a:p>
          <a:p>
            <a:pPr algn="ctr">
              <a:lnSpc>
                <a:spcPts val="4759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22002" y="-221424"/>
            <a:ext cx="18685176" cy="10804102"/>
          </a:xfrm>
          <a:custGeom>
            <a:avLst/>
            <a:gdLst/>
            <a:ahLst/>
            <a:cxnLst/>
            <a:rect r="r" b="b" t="t" l="l"/>
            <a:pathLst>
              <a:path h="10804102" w="18685176">
                <a:moveTo>
                  <a:pt x="0" y="0"/>
                </a:moveTo>
                <a:lnTo>
                  <a:pt x="18685176" y="0"/>
                </a:lnTo>
                <a:lnTo>
                  <a:pt x="18685176" y="10804102"/>
                </a:lnTo>
                <a:lnTo>
                  <a:pt x="0" y="108041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504" t="-41243" r="-1755" b="-3733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90040" y="2722549"/>
            <a:ext cx="6356357" cy="2889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611"/>
              </a:lnSpc>
            </a:pPr>
            <a:r>
              <a:rPr lang="en-US" b="true" sz="12785" spc="-703">
                <a:solidFill>
                  <a:srgbClr val="661CAB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SARAL AI: THE SOLUTION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247763" y="4635132"/>
            <a:ext cx="844020" cy="208856"/>
            <a:chOff x="0" y="0"/>
            <a:chExt cx="1125361" cy="278475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278475" cy="278475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9ADB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416011" y="0"/>
              <a:ext cx="278475" cy="278475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2A9F1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846886" y="0"/>
              <a:ext cx="278475" cy="278475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83ECD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4" id="14"/>
          <p:cNvSpPr/>
          <p:nvPr/>
        </p:nvSpPr>
        <p:spPr>
          <a:xfrm flipH="false" flipV="false" rot="0">
            <a:off x="-838606" y="7050154"/>
            <a:ext cx="8283769" cy="7065048"/>
          </a:xfrm>
          <a:custGeom>
            <a:avLst/>
            <a:gdLst/>
            <a:ahLst/>
            <a:cxnLst/>
            <a:rect r="r" b="b" t="t" l="l"/>
            <a:pathLst>
              <a:path h="7065048" w="8283769">
                <a:moveTo>
                  <a:pt x="0" y="0"/>
                </a:moveTo>
                <a:lnTo>
                  <a:pt x="8283769" y="0"/>
                </a:lnTo>
                <a:lnTo>
                  <a:pt x="8283769" y="7065048"/>
                </a:lnTo>
                <a:lnTo>
                  <a:pt x="0" y="70650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3739035" y="6097604"/>
            <a:ext cx="3797395" cy="3298084"/>
          </a:xfrm>
          <a:custGeom>
            <a:avLst/>
            <a:gdLst/>
            <a:ahLst/>
            <a:cxnLst/>
            <a:rect r="r" b="b" t="t" l="l"/>
            <a:pathLst>
              <a:path h="3298084" w="3797395">
                <a:moveTo>
                  <a:pt x="0" y="0"/>
                </a:moveTo>
                <a:lnTo>
                  <a:pt x="3797396" y="0"/>
                </a:lnTo>
                <a:lnTo>
                  <a:pt x="3797396" y="3298084"/>
                </a:lnTo>
                <a:lnTo>
                  <a:pt x="0" y="32980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false" rot="0">
            <a:off x="618099" y="5611829"/>
            <a:ext cx="3797395" cy="3298084"/>
          </a:xfrm>
          <a:custGeom>
            <a:avLst/>
            <a:gdLst/>
            <a:ahLst/>
            <a:cxnLst/>
            <a:rect r="r" b="b" t="t" l="l"/>
            <a:pathLst>
              <a:path h="3298084" w="3797395">
                <a:moveTo>
                  <a:pt x="3797395" y="0"/>
                </a:moveTo>
                <a:lnTo>
                  <a:pt x="0" y="0"/>
                </a:lnTo>
                <a:lnTo>
                  <a:pt x="0" y="3298084"/>
                </a:lnTo>
                <a:lnTo>
                  <a:pt x="3797395" y="3298084"/>
                </a:lnTo>
                <a:lnTo>
                  <a:pt x="3797395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true" rot="3899053">
            <a:off x="2775021" y="3966340"/>
            <a:ext cx="5775683" cy="8229600"/>
          </a:xfrm>
          <a:custGeom>
            <a:avLst/>
            <a:gdLst/>
            <a:ahLst/>
            <a:cxnLst/>
            <a:rect r="r" b="b" t="t" l="l"/>
            <a:pathLst>
              <a:path h="8229600" w="5775683">
                <a:moveTo>
                  <a:pt x="5775683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5775683" y="0"/>
                </a:lnTo>
                <a:lnTo>
                  <a:pt x="5775683" y="822960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120586" y="4682410"/>
            <a:ext cx="6696947" cy="437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• Users can ask questions using voice or text</a:t>
            </a:r>
          </a:p>
          <a:p>
            <a:pPr algn="l">
              <a:lnSpc>
                <a:spcPts val="3500"/>
              </a:lnSpc>
            </a:pP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• AI understands the query and identifies the relevant scheme</a:t>
            </a:r>
          </a:p>
          <a:p>
            <a:pPr algn="l">
              <a:lnSpc>
                <a:spcPts val="3500"/>
              </a:lnSpc>
            </a:pP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• The system retrieves verified scheme information</a:t>
            </a:r>
          </a:p>
          <a:p>
            <a:pPr algn="l">
              <a:lnSpc>
                <a:spcPts val="3500"/>
              </a:lnSpc>
            </a:pPr>
          </a:p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• SaralAI generates a s</a:t>
            </a:r>
            <a:r>
              <a:rPr lang="en-US" sz="2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imple explanation with eligibility, documents, and steps</a:t>
            </a:r>
          </a:p>
        </p:txBody>
      </p:sp>
      <p:sp>
        <p:nvSpPr>
          <p:cNvPr name="Freeform 19" id="19"/>
          <p:cNvSpPr/>
          <p:nvPr/>
        </p:nvSpPr>
        <p:spPr>
          <a:xfrm flipH="true" flipV="true" rot="0">
            <a:off x="15400159" y="1876263"/>
            <a:ext cx="5775683" cy="8229600"/>
          </a:xfrm>
          <a:custGeom>
            <a:avLst/>
            <a:gdLst/>
            <a:ahLst/>
            <a:cxnLst/>
            <a:rect r="r" b="b" t="t" l="l"/>
            <a:pathLst>
              <a:path h="8229600" w="5775683">
                <a:moveTo>
                  <a:pt x="5775682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5775682" y="0"/>
                </a:lnTo>
                <a:lnTo>
                  <a:pt x="5775682" y="822960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4451526" y="913537"/>
            <a:ext cx="1897265" cy="1623556"/>
          </a:xfrm>
          <a:custGeom>
            <a:avLst/>
            <a:gdLst/>
            <a:ahLst/>
            <a:cxnLst/>
            <a:rect r="r" b="b" t="t" l="l"/>
            <a:pathLst>
              <a:path h="1623556" w="1897265">
                <a:moveTo>
                  <a:pt x="0" y="0"/>
                </a:moveTo>
                <a:lnTo>
                  <a:pt x="1897265" y="0"/>
                </a:lnTo>
                <a:lnTo>
                  <a:pt x="1897265" y="1623556"/>
                </a:lnTo>
                <a:lnTo>
                  <a:pt x="0" y="16235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9144000" y="2679756"/>
            <a:ext cx="8115300" cy="1517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3"/>
              </a:lnSpc>
              <a:spcBef>
                <a:spcPct val="0"/>
              </a:spcBef>
            </a:pPr>
            <a:r>
              <a:rPr lang="en-US" b="true" sz="2909">
                <a:solidFill>
                  <a:srgbClr val="F9F9F9"/>
                </a:solidFill>
                <a:latin typeface="DM Sans Bold"/>
                <a:ea typeface="DM Sans Bold"/>
                <a:cs typeface="DM Sans Bold"/>
                <a:sym typeface="DM Sans Bold"/>
              </a:rPr>
              <a:t>SaralAI is a voice-f</a:t>
            </a:r>
            <a:r>
              <a:rPr lang="en-US" b="true" sz="2909">
                <a:solidFill>
                  <a:srgbClr val="F9F9F9"/>
                </a:solidFill>
                <a:latin typeface="DM Sans Bold"/>
                <a:ea typeface="DM Sans Bold"/>
                <a:cs typeface="DM Sans Bold"/>
                <a:sym typeface="DM Sans Bold"/>
              </a:rPr>
              <a:t>irst AI assistant designed to help citizens easily understand government schemes.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6231472" y="4834458"/>
            <a:ext cx="3859248" cy="3302492"/>
          </a:xfrm>
          <a:custGeom>
            <a:avLst/>
            <a:gdLst/>
            <a:ahLst/>
            <a:cxnLst/>
            <a:rect r="r" b="b" t="t" l="l"/>
            <a:pathLst>
              <a:path h="3302492" w="3859248">
                <a:moveTo>
                  <a:pt x="0" y="0"/>
                </a:moveTo>
                <a:lnTo>
                  <a:pt x="3859247" y="0"/>
                </a:lnTo>
                <a:lnTo>
                  <a:pt x="3859247" y="3302493"/>
                </a:lnTo>
                <a:lnTo>
                  <a:pt x="0" y="330249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8036479" y="9359292"/>
            <a:ext cx="2168214" cy="1855416"/>
          </a:xfrm>
          <a:custGeom>
            <a:avLst/>
            <a:gdLst/>
            <a:ahLst/>
            <a:cxnLst/>
            <a:rect r="r" b="b" t="t" l="l"/>
            <a:pathLst>
              <a:path h="1855416" w="2168214">
                <a:moveTo>
                  <a:pt x="0" y="0"/>
                </a:moveTo>
                <a:lnTo>
                  <a:pt x="2168214" y="0"/>
                </a:lnTo>
                <a:lnTo>
                  <a:pt x="2168214" y="1855416"/>
                </a:lnTo>
                <a:lnTo>
                  <a:pt x="0" y="18554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22002" y="-221424"/>
            <a:ext cx="18685176" cy="10804102"/>
          </a:xfrm>
          <a:custGeom>
            <a:avLst/>
            <a:gdLst/>
            <a:ahLst/>
            <a:cxnLst/>
            <a:rect r="r" b="b" t="t" l="l"/>
            <a:pathLst>
              <a:path h="10804102" w="18685176">
                <a:moveTo>
                  <a:pt x="0" y="0"/>
                </a:moveTo>
                <a:lnTo>
                  <a:pt x="18685176" y="0"/>
                </a:lnTo>
                <a:lnTo>
                  <a:pt x="18685176" y="10804102"/>
                </a:lnTo>
                <a:lnTo>
                  <a:pt x="0" y="108041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504" t="-41243" r="-1755" b="-37339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222002" y="-658684"/>
            <a:ext cx="5775683" cy="4760945"/>
          </a:xfrm>
          <a:custGeom>
            <a:avLst/>
            <a:gdLst/>
            <a:ahLst/>
            <a:cxnLst/>
            <a:rect r="r" b="b" t="t" l="l"/>
            <a:pathLst>
              <a:path h="4760945" w="5775683">
                <a:moveTo>
                  <a:pt x="5775683" y="4760944"/>
                </a:moveTo>
                <a:lnTo>
                  <a:pt x="0" y="4760944"/>
                </a:lnTo>
                <a:lnTo>
                  <a:pt x="0" y="0"/>
                </a:lnTo>
                <a:lnTo>
                  <a:pt x="5775683" y="0"/>
                </a:lnTo>
                <a:lnTo>
                  <a:pt x="5775683" y="4760944"/>
                </a:lnTo>
                <a:close/>
              </a:path>
            </a:pathLst>
          </a:custGeom>
          <a:blipFill>
            <a:blip r:embed="rId4"/>
            <a:stretch>
              <a:fillRect l="0" t="-72856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72632" y="1338316"/>
            <a:ext cx="6924713" cy="3075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394"/>
              </a:lnSpc>
            </a:pPr>
            <a:r>
              <a:rPr lang="en-US" b="true" sz="13728" spc="-755">
                <a:solidFill>
                  <a:srgbClr val="661CAB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SYSTEM OVERVIEW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5025090" y="4934644"/>
            <a:ext cx="844020" cy="208856"/>
            <a:chOff x="0" y="0"/>
            <a:chExt cx="1125361" cy="278475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278475" cy="278475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9ADB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416011" y="0"/>
              <a:ext cx="278475" cy="278475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2A9F1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46886" y="0"/>
              <a:ext cx="278475" cy="278475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83ECD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618099" y="4238479"/>
            <a:ext cx="3721090" cy="942148"/>
            <a:chOff x="0" y="0"/>
            <a:chExt cx="1057086" cy="2676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57086" cy="267645"/>
            </a:xfrm>
            <a:custGeom>
              <a:avLst/>
              <a:gdLst/>
              <a:ahLst/>
              <a:cxnLst/>
              <a:rect r="r" b="b" t="t" l="l"/>
              <a:pathLst>
                <a:path h="267645" w="1057086">
                  <a:moveTo>
                    <a:pt x="0" y="0"/>
                  </a:moveTo>
                  <a:lnTo>
                    <a:pt x="1057086" y="0"/>
                  </a:lnTo>
                  <a:lnTo>
                    <a:pt x="1057086" y="267645"/>
                  </a:lnTo>
                  <a:lnTo>
                    <a:pt x="0" y="267645"/>
                  </a:lnTo>
                  <a:close/>
                </a:path>
              </a:pathLst>
            </a:custGeom>
            <a:solidFill>
              <a:srgbClr val="883EC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057086" cy="305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3303315" y="3019518"/>
            <a:ext cx="4376062" cy="3924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6"/>
              </a:lnSpc>
            </a:pPr>
            <a:r>
              <a:rPr lang="en-US" sz="23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• AI detects the user’s intent</a:t>
            </a:r>
          </a:p>
          <a:p>
            <a:pPr algn="l">
              <a:lnSpc>
                <a:spcPts val="3956"/>
              </a:lnSpc>
            </a:pPr>
          </a:p>
          <a:p>
            <a:pPr algn="l">
              <a:lnSpc>
                <a:spcPts val="3956"/>
              </a:lnSpc>
            </a:pPr>
            <a:r>
              <a:rPr lang="en-US" sz="23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• System retrieves verified scheme information</a:t>
            </a:r>
          </a:p>
          <a:p>
            <a:pPr algn="l">
              <a:lnSpc>
                <a:spcPts val="3956"/>
              </a:lnSpc>
            </a:pPr>
          </a:p>
          <a:p>
            <a:pPr algn="l">
              <a:lnSpc>
                <a:spcPts val="3956"/>
              </a:lnSpc>
            </a:pPr>
            <a:r>
              <a:rPr lang="en-US" sz="23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• SaralAI</a:t>
            </a:r>
            <a:r>
              <a:rPr lang="en-US" sz="23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generates simple guidance for the user</a:t>
            </a:r>
          </a:p>
          <a:p>
            <a:pPr algn="l">
              <a:lnSpc>
                <a:spcPts val="3956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618099" y="6759876"/>
            <a:ext cx="6039098" cy="2438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6"/>
              </a:lnSpc>
            </a:pPr>
            <a:r>
              <a:rPr lang="en-US" sz="23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• User asks a question using voice or text</a:t>
            </a:r>
          </a:p>
          <a:p>
            <a:pPr algn="l">
              <a:lnSpc>
                <a:spcPts val="3956"/>
              </a:lnSpc>
            </a:pPr>
          </a:p>
          <a:p>
            <a:pPr algn="l">
              <a:lnSpc>
                <a:spcPts val="3956"/>
              </a:lnSpc>
            </a:pPr>
            <a:r>
              <a:rPr lang="en-US" sz="23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• SaralAI captures and proc</a:t>
            </a:r>
            <a:r>
              <a:rPr lang="en-US" sz="23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esses the user query</a:t>
            </a:r>
          </a:p>
          <a:p>
            <a:pPr algn="l">
              <a:lnSpc>
                <a:spcPts val="3956"/>
              </a:lnSpc>
            </a:pPr>
          </a:p>
        </p:txBody>
      </p:sp>
      <p:sp>
        <p:nvSpPr>
          <p:cNvPr name="Freeform 20" id="20"/>
          <p:cNvSpPr/>
          <p:nvPr/>
        </p:nvSpPr>
        <p:spPr>
          <a:xfrm flipH="true" flipV="true" rot="0">
            <a:off x="13343630" y="6097604"/>
            <a:ext cx="5775683" cy="4760945"/>
          </a:xfrm>
          <a:custGeom>
            <a:avLst/>
            <a:gdLst/>
            <a:ahLst/>
            <a:cxnLst/>
            <a:rect r="r" b="b" t="t" l="l"/>
            <a:pathLst>
              <a:path h="4760945" w="5775683">
                <a:moveTo>
                  <a:pt x="5775683" y="4760945"/>
                </a:moveTo>
                <a:lnTo>
                  <a:pt x="0" y="4760945"/>
                </a:lnTo>
                <a:lnTo>
                  <a:pt x="0" y="0"/>
                </a:lnTo>
                <a:lnTo>
                  <a:pt x="5775683" y="0"/>
                </a:lnTo>
                <a:lnTo>
                  <a:pt x="5775683" y="4760945"/>
                </a:lnTo>
                <a:close/>
              </a:path>
            </a:pathLst>
          </a:custGeom>
          <a:blipFill>
            <a:blip r:embed="rId4"/>
            <a:stretch>
              <a:fillRect l="0" t="-72856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7849770" y="1114425"/>
            <a:ext cx="3632548" cy="8229600"/>
          </a:xfrm>
          <a:custGeom>
            <a:avLst/>
            <a:gdLst/>
            <a:ahLst/>
            <a:cxnLst/>
            <a:rect r="r" b="b" t="t" l="l"/>
            <a:pathLst>
              <a:path h="8229600" w="3632548">
                <a:moveTo>
                  <a:pt x="0" y="0"/>
                </a:moveTo>
                <a:lnTo>
                  <a:pt x="3632548" y="0"/>
                </a:lnTo>
                <a:lnTo>
                  <a:pt x="36325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6343097" y="4358094"/>
            <a:ext cx="6645893" cy="5981303"/>
          </a:xfrm>
          <a:custGeom>
            <a:avLst/>
            <a:gdLst/>
            <a:ahLst/>
            <a:cxnLst/>
            <a:rect r="r" b="b" t="t" l="l"/>
            <a:pathLst>
              <a:path h="5981303" w="6645893">
                <a:moveTo>
                  <a:pt x="0" y="0"/>
                </a:moveTo>
                <a:lnTo>
                  <a:pt x="6645893" y="0"/>
                </a:lnTo>
                <a:lnTo>
                  <a:pt x="6645893" y="5981303"/>
                </a:lnTo>
                <a:lnTo>
                  <a:pt x="0" y="59813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0652134" y="2105416"/>
            <a:ext cx="2040871" cy="4698538"/>
          </a:xfrm>
          <a:custGeom>
            <a:avLst/>
            <a:gdLst/>
            <a:ahLst/>
            <a:cxnLst/>
            <a:rect r="r" b="b" t="t" l="l"/>
            <a:pathLst>
              <a:path h="4698538" w="2040871">
                <a:moveTo>
                  <a:pt x="0" y="0"/>
                </a:moveTo>
                <a:lnTo>
                  <a:pt x="2040871" y="0"/>
                </a:lnTo>
                <a:lnTo>
                  <a:pt x="2040871" y="4698538"/>
                </a:lnTo>
                <a:lnTo>
                  <a:pt x="0" y="46985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true" flipV="false" rot="0">
            <a:off x="12773792" y="7439626"/>
            <a:ext cx="1345894" cy="555487"/>
          </a:xfrm>
          <a:custGeom>
            <a:avLst/>
            <a:gdLst/>
            <a:ahLst/>
            <a:cxnLst/>
            <a:rect r="r" b="b" t="t" l="l"/>
            <a:pathLst>
              <a:path h="555487" w="1345894">
                <a:moveTo>
                  <a:pt x="1345894" y="0"/>
                </a:moveTo>
                <a:lnTo>
                  <a:pt x="0" y="0"/>
                </a:lnTo>
                <a:lnTo>
                  <a:pt x="0" y="555487"/>
                </a:lnTo>
                <a:lnTo>
                  <a:pt x="1345894" y="555487"/>
                </a:lnTo>
                <a:lnTo>
                  <a:pt x="134589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705982" y="4246319"/>
            <a:ext cx="3507436" cy="803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71"/>
              </a:lnSpc>
              <a:spcBef>
                <a:spcPct val="0"/>
              </a:spcBef>
            </a:pPr>
            <a:r>
              <a:rPr lang="en-US" b="true" sz="4765" spc="-185">
                <a:solidFill>
                  <a:srgbClr val="FF9ADB"/>
                </a:solidFill>
                <a:latin typeface="DM Sans Bold"/>
                <a:ea typeface="DM Sans Bold"/>
                <a:cs typeface="DM Sans Bold"/>
                <a:sym typeface="DM Sans Bold"/>
              </a:rPr>
              <a:t> WORKING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343630" y="2156804"/>
            <a:ext cx="3612899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9F9F9"/>
                </a:solidFill>
                <a:latin typeface="DM Sans Bold"/>
                <a:ea typeface="DM Sans Bold"/>
                <a:cs typeface="DM Sans Bold"/>
                <a:sym typeface="DM Sans Bold"/>
              </a:rPr>
              <a:t>AI P</a:t>
            </a:r>
            <a:r>
              <a:rPr lang="en-US" b="true" sz="2799">
                <a:solidFill>
                  <a:srgbClr val="F9F9F9"/>
                </a:solidFill>
                <a:latin typeface="DM Sans Bold"/>
                <a:ea typeface="DM Sans Bold"/>
                <a:cs typeface="DM Sans Bold"/>
                <a:sym typeface="DM Sans Bold"/>
              </a:rPr>
              <a:t>rocessing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05982" y="5697041"/>
            <a:ext cx="5057626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9F9F9"/>
                </a:solidFill>
                <a:latin typeface="DM Sans Bold"/>
                <a:ea typeface="DM Sans Bold"/>
                <a:cs typeface="DM Sans Bold"/>
                <a:sym typeface="DM Sans Bold"/>
              </a:rPr>
              <a:t>Use</a:t>
            </a:r>
            <a:r>
              <a:rPr lang="en-US" b="true" sz="2799" strike="noStrike" u="none">
                <a:solidFill>
                  <a:srgbClr val="F9F9F9"/>
                </a:solidFill>
                <a:latin typeface="DM Sans Bold"/>
                <a:ea typeface="DM Sans Bold"/>
                <a:cs typeface="DM Sans Bold"/>
                <a:sym typeface="DM Sans Bold"/>
              </a:rPr>
              <a:t>r</a:t>
            </a:r>
            <a:r>
              <a:rPr lang="en-US" b="true" sz="2799" strike="noStrike" u="none">
                <a:solidFill>
                  <a:srgbClr val="F9F9F9"/>
                </a:solidFill>
                <a:latin typeface="DM Sans Bold"/>
                <a:ea typeface="DM Sans Bold"/>
                <a:cs typeface="DM Sans Bold"/>
                <a:sym typeface="DM Sans Bold"/>
              </a:rPr>
              <a:t> In</a:t>
            </a:r>
            <a:r>
              <a:rPr lang="en-US" b="true" sz="2799" strike="noStrike" u="none">
                <a:solidFill>
                  <a:srgbClr val="F9F9F9"/>
                </a:solidFill>
                <a:latin typeface="DM Sans Bold"/>
                <a:ea typeface="DM Sans Bold"/>
                <a:cs typeface="DM Sans Bold"/>
                <a:sym typeface="DM Sans Bold"/>
              </a:rPr>
              <a:t>te</a:t>
            </a:r>
            <a:r>
              <a:rPr lang="en-US" b="true" sz="2799" strike="noStrike" u="none">
                <a:solidFill>
                  <a:srgbClr val="F9F9F9"/>
                </a:solidFill>
                <a:latin typeface="DM Sans Bold"/>
                <a:ea typeface="DM Sans Bold"/>
                <a:cs typeface="DM Sans Bold"/>
                <a:sym typeface="DM Sans Bold"/>
              </a:rPr>
              <a:t>ra</a:t>
            </a:r>
            <a:r>
              <a:rPr lang="en-US" b="true" sz="2799" strike="noStrike" u="none">
                <a:solidFill>
                  <a:srgbClr val="F9F9F9"/>
                </a:solidFill>
                <a:latin typeface="DM Sans Bold"/>
                <a:ea typeface="DM Sans Bold"/>
                <a:cs typeface="DM Sans Bold"/>
                <a:sym typeface="DM Sans Bold"/>
              </a:rPr>
              <a:t>c</a:t>
            </a:r>
            <a:r>
              <a:rPr lang="en-US" b="true" sz="2799" strike="noStrike" u="none">
                <a:solidFill>
                  <a:srgbClr val="F9F9F9"/>
                </a:solidFill>
                <a:latin typeface="DM Sans Bold"/>
                <a:ea typeface="DM Sans Bold"/>
                <a:cs typeface="DM Sans Bold"/>
                <a:sym typeface="DM Sans Bold"/>
              </a:rPr>
              <a:t>ti</a:t>
            </a:r>
            <a:r>
              <a:rPr lang="en-US" b="true" sz="2799" strike="noStrike" u="none">
                <a:solidFill>
                  <a:srgbClr val="F9F9F9"/>
                </a:solidFill>
                <a:latin typeface="DM Sans Bold"/>
                <a:ea typeface="DM Sans Bold"/>
                <a:cs typeface="DM Sans Bold"/>
                <a:sym typeface="DM Sans Bold"/>
              </a:rPr>
              <a:t>o</a:t>
            </a:r>
            <a:r>
              <a:rPr lang="en-US" b="true" sz="2799" strike="noStrike" u="none">
                <a:solidFill>
                  <a:srgbClr val="F9F9F9"/>
                </a:solidFill>
                <a:latin typeface="DM Sans Bold"/>
                <a:ea typeface="DM Sans Bold"/>
                <a:cs typeface="DM Sans Bold"/>
                <a:sym typeface="DM Sans Bold"/>
              </a:rPr>
              <a:t>n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Freeform 28" id="28"/>
          <p:cNvSpPr/>
          <p:nvPr/>
        </p:nvSpPr>
        <p:spPr>
          <a:xfrm flipH="false" flipV="true" rot="0">
            <a:off x="5988457" y="5754191"/>
            <a:ext cx="1345894" cy="555487"/>
          </a:xfrm>
          <a:custGeom>
            <a:avLst/>
            <a:gdLst/>
            <a:ahLst/>
            <a:cxnLst/>
            <a:rect r="r" b="b" t="t" l="l"/>
            <a:pathLst>
              <a:path h="555487" w="1345894">
                <a:moveTo>
                  <a:pt x="0" y="555487"/>
                </a:moveTo>
                <a:lnTo>
                  <a:pt x="1345894" y="555487"/>
                </a:lnTo>
                <a:lnTo>
                  <a:pt x="1345894" y="0"/>
                </a:lnTo>
                <a:lnTo>
                  <a:pt x="0" y="0"/>
                </a:lnTo>
                <a:lnTo>
                  <a:pt x="0" y="555487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5362035" y="7995113"/>
            <a:ext cx="1897265" cy="1623556"/>
          </a:xfrm>
          <a:custGeom>
            <a:avLst/>
            <a:gdLst/>
            <a:ahLst/>
            <a:cxnLst/>
            <a:rect r="r" b="b" t="t" l="l"/>
            <a:pathLst>
              <a:path h="1623556" w="1897265">
                <a:moveTo>
                  <a:pt x="0" y="0"/>
                </a:moveTo>
                <a:lnTo>
                  <a:pt x="1897265" y="0"/>
                </a:lnTo>
                <a:lnTo>
                  <a:pt x="1897265" y="1623555"/>
                </a:lnTo>
                <a:lnTo>
                  <a:pt x="0" y="162355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1702035" y="774971"/>
            <a:ext cx="1286955" cy="1101292"/>
          </a:xfrm>
          <a:custGeom>
            <a:avLst/>
            <a:gdLst/>
            <a:ahLst/>
            <a:cxnLst/>
            <a:rect r="r" b="b" t="t" l="l"/>
            <a:pathLst>
              <a:path h="1101292" w="1286955">
                <a:moveTo>
                  <a:pt x="0" y="0"/>
                </a:moveTo>
                <a:lnTo>
                  <a:pt x="1286955" y="0"/>
                </a:lnTo>
                <a:lnTo>
                  <a:pt x="1286955" y="1101292"/>
                </a:lnTo>
                <a:lnTo>
                  <a:pt x="0" y="110129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2776656" y="9370234"/>
            <a:ext cx="3710132" cy="1769486"/>
          </a:xfrm>
          <a:custGeom>
            <a:avLst/>
            <a:gdLst/>
            <a:ahLst/>
            <a:cxnLst/>
            <a:rect r="r" b="b" t="t" l="l"/>
            <a:pathLst>
              <a:path h="1769486" w="3710132">
                <a:moveTo>
                  <a:pt x="0" y="0"/>
                </a:moveTo>
                <a:lnTo>
                  <a:pt x="3710133" y="0"/>
                </a:lnTo>
                <a:lnTo>
                  <a:pt x="3710133" y="1769485"/>
                </a:lnTo>
                <a:lnTo>
                  <a:pt x="0" y="176948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-79424"/>
            </a:stretch>
          </a:blipFill>
        </p:spPr>
      </p:sp>
      <p:sp>
        <p:nvSpPr>
          <p:cNvPr name="Freeform 32" id="32"/>
          <p:cNvSpPr/>
          <p:nvPr/>
        </p:nvSpPr>
        <p:spPr>
          <a:xfrm flipH="true" flipV="false" rot="0">
            <a:off x="16956529" y="-658684"/>
            <a:ext cx="3101358" cy="2598609"/>
          </a:xfrm>
          <a:custGeom>
            <a:avLst/>
            <a:gdLst/>
            <a:ahLst/>
            <a:cxnLst/>
            <a:rect r="r" b="b" t="t" l="l"/>
            <a:pathLst>
              <a:path h="2598609" w="3101358">
                <a:moveTo>
                  <a:pt x="3101358" y="0"/>
                </a:moveTo>
                <a:lnTo>
                  <a:pt x="0" y="0"/>
                </a:lnTo>
                <a:lnTo>
                  <a:pt x="0" y="2598608"/>
                </a:lnTo>
                <a:lnTo>
                  <a:pt x="3101358" y="2598608"/>
                </a:lnTo>
                <a:lnTo>
                  <a:pt x="3101358" y="0"/>
                </a:lnTo>
                <a:close/>
              </a:path>
            </a:pathLst>
          </a:custGeom>
          <a:blipFill>
            <a:blip r:embed="rId10"/>
            <a:stretch>
              <a:fillRect l="0" t="0" r="0" b="-2129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22002" y="-221424"/>
            <a:ext cx="18685176" cy="10804102"/>
          </a:xfrm>
          <a:custGeom>
            <a:avLst/>
            <a:gdLst/>
            <a:ahLst/>
            <a:cxnLst/>
            <a:rect r="r" b="b" t="t" l="l"/>
            <a:pathLst>
              <a:path h="10804102" w="18685176">
                <a:moveTo>
                  <a:pt x="0" y="0"/>
                </a:moveTo>
                <a:lnTo>
                  <a:pt x="18685176" y="0"/>
                </a:lnTo>
                <a:lnTo>
                  <a:pt x="18685176" y="10804102"/>
                </a:lnTo>
                <a:lnTo>
                  <a:pt x="0" y="108041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504" t="-41243" r="-1755" b="-3733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129786" y="371475"/>
            <a:ext cx="8628874" cy="1293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9033"/>
              </a:lnSpc>
            </a:pPr>
            <a:r>
              <a:rPr lang="en-US" b="true" sz="10883" spc="-598">
                <a:solidFill>
                  <a:srgbClr val="661CAB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SYSTEM   ARCHITECTURE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15334176" y="8031686"/>
            <a:ext cx="3561720" cy="2216734"/>
          </a:xfrm>
          <a:custGeom>
            <a:avLst/>
            <a:gdLst/>
            <a:ahLst/>
            <a:cxnLst/>
            <a:rect r="r" b="b" t="t" l="l"/>
            <a:pathLst>
              <a:path h="2216734" w="3561720">
                <a:moveTo>
                  <a:pt x="3561719" y="0"/>
                </a:moveTo>
                <a:lnTo>
                  <a:pt x="0" y="0"/>
                </a:lnTo>
                <a:lnTo>
                  <a:pt x="0" y="2216734"/>
                </a:lnTo>
                <a:lnTo>
                  <a:pt x="3561719" y="2216734"/>
                </a:lnTo>
                <a:lnTo>
                  <a:pt x="3561719" y="0"/>
                </a:lnTo>
                <a:close/>
              </a:path>
            </a:pathLst>
          </a:custGeom>
          <a:blipFill>
            <a:blip r:embed="rId4"/>
            <a:stretch>
              <a:fillRect l="0" t="0" r="0" b="-62121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7035936" y="924272"/>
            <a:ext cx="7424530" cy="6120103"/>
          </a:xfrm>
          <a:custGeom>
            <a:avLst/>
            <a:gdLst/>
            <a:ahLst/>
            <a:cxnLst/>
            <a:rect r="r" b="b" t="t" l="l"/>
            <a:pathLst>
              <a:path h="6120103" w="7424530">
                <a:moveTo>
                  <a:pt x="7424530" y="6120103"/>
                </a:moveTo>
                <a:lnTo>
                  <a:pt x="0" y="6120103"/>
                </a:lnTo>
                <a:lnTo>
                  <a:pt x="0" y="0"/>
                </a:lnTo>
                <a:lnTo>
                  <a:pt x="7424530" y="0"/>
                </a:lnTo>
                <a:lnTo>
                  <a:pt x="7424530" y="6120103"/>
                </a:lnTo>
                <a:close/>
              </a:path>
            </a:pathLst>
          </a:custGeom>
          <a:blipFill>
            <a:blip r:embed="rId5"/>
            <a:stretch>
              <a:fillRect l="0" t="-72856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561260" y="5665978"/>
            <a:ext cx="5302225" cy="5345527"/>
          </a:xfrm>
          <a:custGeom>
            <a:avLst/>
            <a:gdLst/>
            <a:ahLst/>
            <a:cxnLst/>
            <a:rect r="r" b="b" t="t" l="l"/>
            <a:pathLst>
              <a:path h="5345527" w="5302225">
                <a:moveTo>
                  <a:pt x="5302225" y="5345527"/>
                </a:moveTo>
                <a:lnTo>
                  <a:pt x="0" y="5345527"/>
                </a:lnTo>
                <a:lnTo>
                  <a:pt x="0" y="0"/>
                </a:lnTo>
                <a:lnTo>
                  <a:pt x="5302225" y="0"/>
                </a:lnTo>
                <a:lnTo>
                  <a:pt x="5302225" y="5345527"/>
                </a:lnTo>
                <a:close/>
              </a:path>
            </a:pathLst>
          </a:custGeom>
          <a:blipFill>
            <a:blip r:embed="rId5"/>
            <a:stretch>
              <a:fillRect l="0" t="-97903" r="-40026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83379" y="4250645"/>
            <a:ext cx="1766758" cy="1511876"/>
          </a:xfrm>
          <a:custGeom>
            <a:avLst/>
            <a:gdLst/>
            <a:ahLst/>
            <a:cxnLst/>
            <a:rect r="r" b="b" t="t" l="l"/>
            <a:pathLst>
              <a:path h="1511876" w="1766758">
                <a:moveTo>
                  <a:pt x="0" y="0"/>
                </a:moveTo>
                <a:lnTo>
                  <a:pt x="1766758" y="0"/>
                </a:lnTo>
                <a:lnTo>
                  <a:pt x="1766758" y="1511876"/>
                </a:lnTo>
                <a:lnTo>
                  <a:pt x="0" y="15118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7035936" y="9258300"/>
            <a:ext cx="2778400" cy="2328004"/>
          </a:xfrm>
          <a:custGeom>
            <a:avLst/>
            <a:gdLst/>
            <a:ahLst/>
            <a:cxnLst/>
            <a:rect r="r" b="b" t="t" l="l"/>
            <a:pathLst>
              <a:path h="2328004" w="2778400">
                <a:moveTo>
                  <a:pt x="2778401" y="0"/>
                </a:moveTo>
                <a:lnTo>
                  <a:pt x="0" y="0"/>
                </a:lnTo>
                <a:lnTo>
                  <a:pt x="0" y="2328004"/>
                </a:lnTo>
                <a:lnTo>
                  <a:pt x="2778401" y="2328004"/>
                </a:lnTo>
                <a:lnTo>
                  <a:pt x="2778401" y="0"/>
                </a:lnTo>
                <a:close/>
              </a:path>
            </a:pathLst>
          </a:custGeom>
          <a:blipFill>
            <a:blip r:embed="rId6"/>
            <a:stretch>
              <a:fillRect l="0" t="0" r="0" b="-2129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779549" y="1028700"/>
            <a:ext cx="1945489" cy="1664823"/>
          </a:xfrm>
          <a:custGeom>
            <a:avLst/>
            <a:gdLst/>
            <a:ahLst/>
            <a:cxnLst/>
            <a:rect r="r" b="b" t="t" l="l"/>
            <a:pathLst>
              <a:path h="1664823" w="1945489">
                <a:moveTo>
                  <a:pt x="0" y="0"/>
                </a:moveTo>
                <a:lnTo>
                  <a:pt x="1945489" y="0"/>
                </a:lnTo>
                <a:lnTo>
                  <a:pt x="1945489" y="1664823"/>
                </a:lnTo>
                <a:lnTo>
                  <a:pt x="0" y="16648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667842" y="924272"/>
            <a:ext cx="844020" cy="208856"/>
            <a:chOff x="0" y="0"/>
            <a:chExt cx="1125361" cy="278475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278475" cy="278475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9ADB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416011" y="0"/>
              <a:ext cx="278475" cy="278475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2A9F1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846886" y="0"/>
              <a:ext cx="278475" cy="278475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83ECD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20" id="20"/>
          <p:cNvSpPr/>
          <p:nvPr/>
        </p:nvSpPr>
        <p:spPr>
          <a:xfrm flipH="false" flipV="false" rot="0">
            <a:off x="1428609" y="1566302"/>
            <a:ext cx="13805709" cy="7691998"/>
          </a:xfrm>
          <a:custGeom>
            <a:avLst/>
            <a:gdLst/>
            <a:ahLst/>
            <a:cxnLst/>
            <a:rect r="r" b="b" t="t" l="l"/>
            <a:pathLst>
              <a:path h="7691998" w="13805709">
                <a:moveTo>
                  <a:pt x="0" y="0"/>
                </a:moveTo>
                <a:lnTo>
                  <a:pt x="13805709" y="0"/>
                </a:lnTo>
                <a:lnTo>
                  <a:pt x="13805709" y="7691998"/>
                </a:lnTo>
                <a:lnTo>
                  <a:pt x="0" y="769199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257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22002" y="-221424"/>
            <a:ext cx="18685176" cy="10804102"/>
          </a:xfrm>
          <a:custGeom>
            <a:avLst/>
            <a:gdLst/>
            <a:ahLst/>
            <a:cxnLst/>
            <a:rect r="r" b="b" t="t" l="l"/>
            <a:pathLst>
              <a:path h="10804102" w="18685176">
                <a:moveTo>
                  <a:pt x="0" y="0"/>
                </a:moveTo>
                <a:lnTo>
                  <a:pt x="18685176" y="0"/>
                </a:lnTo>
                <a:lnTo>
                  <a:pt x="18685176" y="10804102"/>
                </a:lnTo>
                <a:lnTo>
                  <a:pt x="0" y="108041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504" t="-41243" r="-1755" b="-3733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145895" y="8465636"/>
            <a:ext cx="3780082" cy="3234747"/>
          </a:xfrm>
          <a:custGeom>
            <a:avLst/>
            <a:gdLst/>
            <a:ahLst/>
            <a:cxnLst/>
            <a:rect r="r" b="b" t="t" l="l"/>
            <a:pathLst>
              <a:path h="3234747" w="3780082">
                <a:moveTo>
                  <a:pt x="0" y="0"/>
                </a:moveTo>
                <a:lnTo>
                  <a:pt x="3780082" y="0"/>
                </a:lnTo>
                <a:lnTo>
                  <a:pt x="3780082" y="3234748"/>
                </a:lnTo>
                <a:lnTo>
                  <a:pt x="0" y="32347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1918469" y="4853626"/>
            <a:ext cx="7424530" cy="6120103"/>
          </a:xfrm>
          <a:custGeom>
            <a:avLst/>
            <a:gdLst/>
            <a:ahLst/>
            <a:cxnLst/>
            <a:rect r="r" b="b" t="t" l="l"/>
            <a:pathLst>
              <a:path h="6120103" w="7424530">
                <a:moveTo>
                  <a:pt x="7424530" y="6120103"/>
                </a:moveTo>
                <a:lnTo>
                  <a:pt x="0" y="6120103"/>
                </a:lnTo>
                <a:lnTo>
                  <a:pt x="0" y="0"/>
                </a:lnTo>
                <a:lnTo>
                  <a:pt x="7424530" y="0"/>
                </a:lnTo>
                <a:lnTo>
                  <a:pt x="7424530" y="6120103"/>
                </a:lnTo>
                <a:close/>
              </a:path>
            </a:pathLst>
          </a:custGeom>
          <a:blipFill>
            <a:blip r:embed="rId5"/>
            <a:stretch>
              <a:fillRect l="0" t="-72856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561260" y="5665978"/>
            <a:ext cx="5302225" cy="5345527"/>
          </a:xfrm>
          <a:custGeom>
            <a:avLst/>
            <a:gdLst/>
            <a:ahLst/>
            <a:cxnLst/>
            <a:rect r="r" b="b" t="t" l="l"/>
            <a:pathLst>
              <a:path h="5345527" w="5302225">
                <a:moveTo>
                  <a:pt x="5302225" y="5345527"/>
                </a:moveTo>
                <a:lnTo>
                  <a:pt x="0" y="5345527"/>
                </a:lnTo>
                <a:lnTo>
                  <a:pt x="0" y="0"/>
                </a:lnTo>
                <a:lnTo>
                  <a:pt x="5302225" y="0"/>
                </a:lnTo>
                <a:lnTo>
                  <a:pt x="5302225" y="5345527"/>
                </a:lnTo>
                <a:close/>
              </a:path>
            </a:pathLst>
          </a:custGeom>
          <a:blipFill>
            <a:blip r:embed="rId5"/>
            <a:stretch>
              <a:fillRect l="0" t="-97903" r="-40026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738058" y="4271786"/>
            <a:ext cx="1766758" cy="1511876"/>
          </a:xfrm>
          <a:custGeom>
            <a:avLst/>
            <a:gdLst/>
            <a:ahLst/>
            <a:cxnLst/>
            <a:rect r="r" b="b" t="t" l="l"/>
            <a:pathLst>
              <a:path h="1511876" w="1766758">
                <a:moveTo>
                  <a:pt x="0" y="0"/>
                </a:moveTo>
                <a:lnTo>
                  <a:pt x="1766758" y="0"/>
                </a:lnTo>
                <a:lnTo>
                  <a:pt x="1766758" y="1511876"/>
                </a:lnTo>
                <a:lnTo>
                  <a:pt x="0" y="15118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7035936" y="8987696"/>
            <a:ext cx="3101358" cy="2598609"/>
          </a:xfrm>
          <a:custGeom>
            <a:avLst/>
            <a:gdLst/>
            <a:ahLst/>
            <a:cxnLst/>
            <a:rect r="r" b="b" t="t" l="l"/>
            <a:pathLst>
              <a:path h="2598609" w="3101358">
                <a:moveTo>
                  <a:pt x="3101358" y="0"/>
                </a:moveTo>
                <a:lnTo>
                  <a:pt x="0" y="0"/>
                </a:lnTo>
                <a:lnTo>
                  <a:pt x="0" y="2598608"/>
                </a:lnTo>
                <a:lnTo>
                  <a:pt x="3101358" y="2598608"/>
                </a:lnTo>
                <a:lnTo>
                  <a:pt x="3101358" y="0"/>
                </a:lnTo>
                <a:close/>
              </a:path>
            </a:pathLst>
          </a:custGeom>
          <a:blipFill>
            <a:blip r:embed="rId4"/>
            <a:stretch>
              <a:fillRect l="0" t="0" r="0" b="-2129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735398" y="1773608"/>
            <a:ext cx="2523902" cy="2159791"/>
          </a:xfrm>
          <a:custGeom>
            <a:avLst/>
            <a:gdLst/>
            <a:ahLst/>
            <a:cxnLst/>
            <a:rect r="r" b="b" t="t" l="l"/>
            <a:pathLst>
              <a:path h="2159791" w="2523902">
                <a:moveTo>
                  <a:pt x="0" y="0"/>
                </a:moveTo>
                <a:lnTo>
                  <a:pt x="2523902" y="0"/>
                </a:lnTo>
                <a:lnTo>
                  <a:pt x="2523902" y="2159791"/>
                </a:lnTo>
                <a:lnTo>
                  <a:pt x="0" y="21597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5637011" y="9813771"/>
            <a:ext cx="844020" cy="208856"/>
            <a:chOff x="0" y="0"/>
            <a:chExt cx="1125361" cy="278475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278475" cy="278475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9ADB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416011" y="0"/>
              <a:ext cx="278475" cy="278475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2A9F1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846886" y="0"/>
              <a:ext cx="278475" cy="278475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83ECD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9" id="19"/>
          <p:cNvSpPr/>
          <p:nvPr/>
        </p:nvSpPr>
        <p:spPr>
          <a:xfrm flipH="false" flipV="false" rot="0">
            <a:off x="-222002" y="6413091"/>
            <a:ext cx="3585112" cy="4105090"/>
          </a:xfrm>
          <a:custGeom>
            <a:avLst/>
            <a:gdLst/>
            <a:ahLst/>
            <a:cxnLst/>
            <a:rect r="r" b="b" t="t" l="l"/>
            <a:pathLst>
              <a:path h="4105090" w="3585112">
                <a:moveTo>
                  <a:pt x="0" y="0"/>
                </a:moveTo>
                <a:lnTo>
                  <a:pt x="3585112" y="0"/>
                </a:lnTo>
                <a:lnTo>
                  <a:pt x="3585112" y="4105091"/>
                </a:lnTo>
                <a:lnTo>
                  <a:pt x="0" y="41050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3027765" y="8071751"/>
            <a:ext cx="4236261" cy="2901978"/>
          </a:xfrm>
          <a:custGeom>
            <a:avLst/>
            <a:gdLst/>
            <a:ahLst/>
            <a:cxnLst/>
            <a:rect r="r" b="b" t="t" l="l"/>
            <a:pathLst>
              <a:path h="2901978" w="4236261">
                <a:moveTo>
                  <a:pt x="0" y="0"/>
                </a:moveTo>
                <a:lnTo>
                  <a:pt x="4236261" y="0"/>
                </a:lnTo>
                <a:lnTo>
                  <a:pt x="4236261" y="2901978"/>
                </a:lnTo>
                <a:lnTo>
                  <a:pt x="0" y="290197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85679" y="1398041"/>
            <a:ext cx="3638655" cy="2910924"/>
          </a:xfrm>
          <a:custGeom>
            <a:avLst/>
            <a:gdLst/>
            <a:ahLst/>
            <a:cxnLst/>
            <a:rect r="r" b="b" t="t" l="l"/>
            <a:pathLst>
              <a:path h="2910924" w="3638655">
                <a:moveTo>
                  <a:pt x="0" y="0"/>
                </a:moveTo>
                <a:lnTo>
                  <a:pt x="3638655" y="0"/>
                </a:lnTo>
                <a:lnTo>
                  <a:pt x="3638655" y="2910924"/>
                </a:lnTo>
                <a:lnTo>
                  <a:pt x="0" y="291092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4906929" y="1409272"/>
            <a:ext cx="3578143" cy="2862514"/>
          </a:xfrm>
          <a:custGeom>
            <a:avLst/>
            <a:gdLst/>
            <a:ahLst/>
            <a:cxnLst/>
            <a:rect r="r" b="b" t="t" l="l"/>
            <a:pathLst>
              <a:path h="2862514" w="3578143">
                <a:moveTo>
                  <a:pt x="0" y="0"/>
                </a:moveTo>
                <a:lnTo>
                  <a:pt x="3578143" y="0"/>
                </a:lnTo>
                <a:lnTo>
                  <a:pt x="3578143" y="2862514"/>
                </a:lnTo>
                <a:lnTo>
                  <a:pt x="0" y="28625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8737605" y="1409272"/>
            <a:ext cx="4037044" cy="3229635"/>
          </a:xfrm>
          <a:custGeom>
            <a:avLst/>
            <a:gdLst/>
            <a:ahLst/>
            <a:cxnLst/>
            <a:rect r="r" b="b" t="t" l="l"/>
            <a:pathLst>
              <a:path h="3229635" w="4037044">
                <a:moveTo>
                  <a:pt x="0" y="0"/>
                </a:moveTo>
                <a:lnTo>
                  <a:pt x="4037044" y="0"/>
                </a:lnTo>
                <a:lnTo>
                  <a:pt x="4037044" y="3229635"/>
                </a:lnTo>
                <a:lnTo>
                  <a:pt x="0" y="32296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4043184" y="4628668"/>
            <a:ext cx="3792219" cy="3285010"/>
          </a:xfrm>
          <a:custGeom>
            <a:avLst/>
            <a:gdLst/>
            <a:ahLst/>
            <a:cxnLst/>
            <a:rect r="r" b="b" t="t" l="l"/>
            <a:pathLst>
              <a:path h="3285010" w="3792219">
                <a:moveTo>
                  <a:pt x="0" y="0"/>
                </a:moveTo>
                <a:lnTo>
                  <a:pt x="3792219" y="0"/>
                </a:lnTo>
                <a:lnTo>
                  <a:pt x="3792219" y="3285010"/>
                </a:lnTo>
                <a:lnTo>
                  <a:pt x="0" y="328501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0137294" y="4853626"/>
            <a:ext cx="6200181" cy="4960145"/>
          </a:xfrm>
          <a:custGeom>
            <a:avLst/>
            <a:gdLst/>
            <a:ahLst/>
            <a:cxnLst/>
            <a:rect r="r" b="b" t="t" l="l"/>
            <a:pathLst>
              <a:path h="4960145" w="6200181">
                <a:moveTo>
                  <a:pt x="0" y="0"/>
                </a:moveTo>
                <a:lnTo>
                  <a:pt x="6200181" y="0"/>
                </a:lnTo>
                <a:lnTo>
                  <a:pt x="6200181" y="4960145"/>
                </a:lnTo>
                <a:lnTo>
                  <a:pt x="0" y="496014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-219650" y="304800"/>
            <a:ext cx="10731091" cy="1070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7438"/>
              </a:lnSpc>
            </a:pPr>
            <a:r>
              <a:rPr lang="en-US" b="true" sz="8961" spc="-492">
                <a:solidFill>
                  <a:srgbClr val="661CAB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PROTOTYPE</a:t>
            </a:r>
          </a:p>
        </p:txBody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22002" y="-221424"/>
            <a:ext cx="18685176" cy="10804102"/>
          </a:xfrm>
          <a:custGeom>
            <a:avLst/>
            <a:gdLst/>
            <a:ahLst/>
            <a:cxnLst/>
            <a:rect r="r" b="b" t="t" l="l"/>
            <a:pathLst>
              <a:path h="10804102" w="18685176">
                <a:moveTo>
                  <a:pt x="0" y="0"/>
                </a:moveTo>
                <a:lnTo>
                  <a:pt x="18685176" y="0"/>
                </a:lnTo>
                <a:lnTo>
                  <a:pt x="18685176" y="10804102"/>
                </a:lnTo>
                <a:lnTo>
                  <a:pt x="0" y="108041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504" t="-41243" r="-1755" b="-3733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145895" y="8465636"/>
            <a:ext cx="3780082" cy="3234747"/>
          </a:xfrm>
          <a:custGeom>
            <a:avLst/>
            <a:gdLst/>
            <a:ahLst/>
            <a:cxnLst/>
            <a:rect r="r" b="b" t="t" l="l"/>
            <a:pathLst>
              <a:path h="3234747" w="3780082">
                <a:moveTo>
                  <a:pt x="0" y="0"/>
                </a:moveTo>
                <a:lnTo>
                  <a:pt x="3780082" y="0"/>
                </a:lnTo>
                <a:lnTo>
                  <a:pt x="3780082" y="3234748"/>
                </a:lnTo>
                <a:lnTo>
                  <a:pt x="0" y="32347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1918469" y="4853626"/>
            <a:ext cx="7424530" cy="6120103"/>
          </a:xfrm>
          <a:custGeom>
            <a:avLst/>
            <a:gdLst/>
            <a:ahLst/>
            <a:cxnLst/>
            <a:rect r="r" b="b" t="t" l="l"/>
            <a:pathLst>
              <a:path h="6120103" w="7424530">
                <a:moveTo>
                  <a:pt x="7424530" y="6120103"/>
                </a:moveTo>
                <a:lnTo>
                  <a:pt x="0" y="6120103"/>
                </a:lnTo>
                <a:lnTo>
                  <a:pt x="0" y="0"/>
                </a:lnTo>
                <a:lnTo>
                  <a:pt x="7424530" y="0"/>
                </a:lnTo>
                <a:lnTo>
                  <a:pt x="7424530" y="6120103"/>
                </a:lnTo>
                <a:close/>
              </a:path>
            </a:pathLst>
          </a:custGeom>
          <a:blipFill>
            <a:blip r:embed="rId5"/>
            <a:stretch>
              <a:fillRect l="0" t="-72856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561260" y="5665978"/>
            <a:ext cx="5302225" cy="5345527"/>
          </a:xfrm>
          <a:custGeom>
            <a:avLst/>
            <a:gdLst/>
            <a:ahLst/>
            <a:cxnLst/>
            <a:rect r="r" b="b" t="t" l="l"/>
            <a:pathLst>
              <a:path h="5345527" w="5302225">
                <a:moveTo>
                  <a:pt x="5302225" y="5345527"/>
                </a:moveTo>
                <a:lnTo>
                  <a:pt x="0" y="5345527"/>
                </a:lnTo>
                <a:lnTo>
                  <a:pt x="0" y="0"/>
                </a:lnTo>
                <a:lnTo>
                  <a:pt x="5302225" y="0"/>
                </a:lnTo>
                <a:lnTo>
                  <a:pt x="5302225" y="5345527"/>
                </a:lnTo>
                <a:close/>
              </a:path>
            </a:pathLst>
          </a:custGeom>
          <a:blipFill>
            <a:blip r:embed="rId5"/>
            <a:stretch>
              <a:fillRect l="0" t="-97903" r="-40026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738058" y="4271786"/>
            <a:ext cx="1766758" cy="1511876"/>
          </a:xfrm>
          <a:custGeom>
            <a:avLst/>
            <a:gdLst/>
            <a:ahLst/>
            <a:cxnLst/>
            <a:rect r="r" b="b" t="t" l="l"/>
            <a:pathLst>
              <a:path h="1511876" w="1766758">
                <a:moveTo>
                  <a:pt x="0" y="0"/>
                </a:moveTo>
                <a:lnTo>
                  <a:pt x="1766758" y="0"/>
                </a:lnTo>
                <a:lnTo>
                  <a:pt x="1766758" y="1511876"/>
                </a:lnTo>
                <a:lnTo>
                  <a:pt x="0" y="15118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7035936" y="8987696"/>
            <a:ext cx="3101358" cy="2598609"/>
          </a:xfrm>
          <a:custGeom>
            <a:avLst/>
            <a:gdLst/>
            <a:ahLst/>
            <a:cxnLst/>
            <a:rect r="r" b="b" t="t" l="l"/>
            <a:pathLst>
              <a:path h="2598609" w="3101358">
                <a:moveTo>
                  <a:pt x="3101358" y="0"/>
                </a:moveTo>
                <a:lnTo>
                  <a:pt x="0" y="0"/>
                </a:lnTo>
                <a:lnTo>
                  <a:pt x="0" y="2598608"/>
                </a:lnTo>
                <a:lnTo>
                  <a:pt x="3101358" y="2598608"/>
                </a:lnTo>
                <a:lnTo>
                  <a:pt x="3101358" y="0"/>
                </a:lnTo>
                <a:close/>
              </a:path>
            </a:pathLst>
          </a:custGeom>
          <a:blipFill>
            <a:blip r:embed="rId4"/>
            <a:stretch>
              <a:fillRect l="0" t="0" r="0" b="-2129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735398" y="1773608"/>
            <a:ext cx="2523902" cy="2159791"/>
          </a:xfrm>
          <a:custGeom>
            <a:avLst/>
            <a:gdLst/>
            <a:ahLst/>
            <a:cxnLst/>
            <a:rect r="r" b="b" t="t" l="l"/>
            <a:pathLst>
              <a:path h="2159791" w="2523902">
                <a:moveTo>
                  <a:pt x="0" y="0"/>
                </a:moveTo>
                <a:lnTo>
                  <a:pt x="2523902" y="0"/>
                </a:lnTo>
                <a:lnTo>
                  <a:pt x="2523902" y="2159791"/>
                </a:lnTo>
                <a:lnTo>
                  <a:pt x="0" y="21597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5637011" y="9813771"/>
            <a:ext cx="844020" cy="208856"/>
            <a:chOff x="0" y="0"/>
            <a:chExt cx="1125361" cy="278475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278475" cy="278475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9ADB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416011" y="0"/>
              <a:ext cx="278475" cy="278475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2A9F1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846886" y="0"/>
              <a:ext cx="278475" cy="278475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83ECD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9" id="19"/>
          <p:cNvSpPr/>
          <p:nvPr/>
        </p:nvSpPr>
        <p:spPr>
          <a:xfrm flipH="false" flipV="false" rot="0">
            <a:off x="-222002" y="6413091"/>
            <a:ext cx="3585112" cy="4105090"/>
          </a:xfrm>
          <a:custGeom>
            <a:avLst/>
            <a:gdLst/>
            <a:ahLst/>
            <a:cxnLst/>
            <a:rect r="r" b="b" t="t" l="l"/>
            <a:pathLst>
              <a:path h="4105090" w="3585112">
                <a:moveTo>
                  <a:pt x="0" y="0"/>
                </a:moveTo>
                <a:lnTo>
                  <a:pt x="3585112" y="0"/>
                </a:lnTo>
                <a:lnTo>
                  <a:pt x="3585112" y="4105091"/>
                </a:lnTo>
                <a:lnTo>
                  <a:pt x="0" y="41050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3027765" y="8071751"/>
            <a:ext cx="4236261" cy="2901978"/>
          </a:xfrm>
          <a:custGeom>
            <a:avLst/>
            <a:gdLst/>
            <a:ahLst/>
            <a:cxnLst/>
            <a:rect r="r" b="b" t="t" l="l"/>
            <a:pathLst>
              <a:path h="2901978" w="4236261">
                <a:moveTo>
                  <a:pt x="0" y="0"/>
                </a:moveTo>
                <a:lnTo>
                  <a:pt x="4236261" y="0"/>
                </a:lnTo>
                <a:lnTo>
                  <a:pt x="4236261" y="2901978"/>
                </a:lnTo>
                <a:lnTo>
                  <a:pt x="0" y="290197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110265" y="1468397"/>
            <a:ext cx="6153761" cy="3675103"/>
          </a:xfrm>
          <a:custGeom>
            <a:avLst/>
            <a:gdLst/>
            <a:ahLst/>
            <a:cxnLst/>
            <a:rect r="r" b="b" t="t" l="l"/>
            <a:pathLst>
              <a:path h="3675103" w="6153761">
                <a:moveTo>
                  <a:pt x="0" y="0"/>
                </a:moveTo>
                <a:lnTo>
                  <a:pt x="6153761" y="0"/>
                </a:lnTo>
                <a:lnTo>
                  <a:pt x="6153761" y="3675103"/>
                </a:lnTo>
                <a:lnTo>
                  <a:pt x="0" y="367510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2326" r="0" b="-2326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8094548" y="1505524"/>
            <a:ext cx="5635520" cy="3522200"/>
          </a:xfrm>
          <a:custGeom>
            <a:avLst/>
            <a:gdLst/>
            <a:ahLst/>
            <a:cxnLst/>
            <a:rect r="r" b="b" t="t" l="l"/>
            <a:pathLst>
              <a:path h="3522200" w="5635520">
                <a:moveTo>
                  <a:pt x="0" y="0"/>
                </a:moveTo>
                <a:lnTo>
                  <a:pt x="5635520" y="0"/>
                </a:lnTo>
                <a:lnTo>
                  <a:pt x="5635520" y="3522200"/>
                </a:lnTo>
                <a:lnTo>
                  <a:pt x="0" y="35222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7536848" y="5270391"/>
            <a:ext cx="5559421" cy="3474638"/>
          </a:xfrm>
          <a:custGeom>
            <a:avLst/>
            <a:gdLst/>
            <a:ahLst/>
            <a:cxnLst/>
            <a:rect r="r" b="b" t="t" l="l"/>
            <a:pathLst>
              <a:path h="3474638" w="5559421">
                <a:moveTo>
                  <a:pt x="0" y="0"/>
                </a:moveTo>
                <a:lnTo>
                  <a:pt x="5559420" y="0"/>
                </a:lnTo>
                <a:lnTo>
                  <a:pt x="5559420" y="3474638"/>
                </a:lnTo>
                <a:lnTo>
                  <a:pt x="0" y="347463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3815793" y="4589432"/>
            <a:ext cx="4488076" cy="5136568"/>
          </a:xfrm>
          <a:custGeom>
            <a:avLst/>
            <a:gdLst/>
            <a:ahLst/>
            <a:cxnLst/>
            <a:rect r="r" b="b" t="t" l="l"/>
            <a:pathLst>
              <a:path h="5136568" w="4488076">
                <a:moveTo>
                  <a:pt x="0" y="0"/>
                </a:moveTo>
                <a:lnTo>
                  <a:pt x="4488076" y="0"/>
                </a:lnTo>
                <a:lnTo>
                  <a:pt x="4488076" y="5136568"/>
                </a:lnTo>
                <a:lnTo>
                  <a:pt x="0" y="513656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3458976" y="304800"/>
            <a:ext cx="10731091" cy="1070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7438"/>
              </a:lnSpc>
            </a:pPr>
            <a:r>
              <a:rPr lang="en-US" b="true" sz="8961" spc="-492">
                <a:solidFill>
                  <a:srgbClr val="661CAB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SARAL AI   SYSTEM   INTERFACE</a:t>
            </a:r>
          </a:p>
        </p:txBody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79538" y="-221424"/>
            <a:ext cx="18685176" cy="10804102"/>
          </a:xfrm>
          <a:custGeom>
            <a:avLst/>
            <a:gdLst/>
            <a:ahLst/>
            <a:cxnLst/>
            <a:rect r="r" b="b" t="t" l="l"/>
            <a:pathLst>
              <a:path h="10804102" w="18685176">
                <a:moveTo>
                  <a:pt x="0" y="0"/>
                </a:moveTo>
                <a:lnTo>
                  <a:pt x="18685176" y="0"/>
                </a:lnTo>
                <a:lnTo>
                  <a:pt x="18685176" y="10804102"/>
                </a:lnTo>
                <a:lnTo>
                  <a:pt x="0" y="108041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504" t="-41243" r="-1755" b="-3733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055801" y="7644656"/>
            <a:ext cx="2407826" cy="2060460"/>
          </a:xfrm>
          <a:custGeom>
            <a:avLst/>
            <a:gdLst/>
            <a:ahLst/>
            <a:cxnLst/>
            <a:rect r="r" b="b" t="t" l="l"/>
            <a:pathLst>
              <a:path h="2060460" w="2407826">
                <a:moveTo>
                  <a:pt x="0" y="0"/>
                </a:moveTo>
                <a:lnTo>
                  <a:pt x="2407826" y="0"/>
                </a:lnTo>
                <a:lnTo>
                  <a:pt x="2407826" y="2060460"/>
                </a:lnTo>
                <a:lnTo>
                  <a:pt x="0" y="20604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16583" y="1028700"/>
            <a:ext cx="844020" cy="208856"/>
            <a:chOff x="0" y="0"/>
            <a:chExt cx="1125361" cy="278475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278475" cy="278475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9ADB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416011" y="0"/>
              <a:ext cx="278475" cy="278475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2A9F1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846886" y="0"/>
              <a:ext cx="278475" cy="278475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83ECD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4" id="14"/>
          <p:cNvGrpSpPr/>
          <p:nvPr/>
        </p:nvGrpSpPr>
        <p:grpSpPr>
          <a:xfrm rot="0">
            <a:off x="1028700" y="1723331"/>
            <a:ext cx="6414088" cy="905021"/>
            <a:chOff x="0" y="0"/>
            <a:chExt cx="1822112" cy="25709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22112" cy="257098"/>
            </a:xfrm>
            <a:custGeom>
              <a:avLst/>
              <a:gdLst/>
              <a:ahLst/>
              <a:cxnLst/>
              <a:rect r="r" b="b" t="t" l="l"/>
              <a:pathLst>
                <a:path h="257098" w="1822112">
                  <a:moveTo>
                    <a:pt x="0" y="0"/>
                  </a:moveTo>
                  <a:lnTo>
                    <a:pt x="1822112" y="0"/>
                  </a:lnTo>
                  <a:lnTo>
                    <a:pt x="1822112" y="257098"/>
                  </a:lnTo>
                  <a:lnTo>
                    <a:pt x="0" y="257098"/>
                  </a:lnTo>
                  <a:close/>
                </a:path>
              </a:pathLst>
            </a:custGeom>
            <a:solidFill>
              <a:srgbClr val="883EC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822112" cy="2951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2549947" y="8079602"/>
            <a:ext cx="4709353" cy="4016506"/>
          </a:xfrm>
          <a:custGeom>
            <a:avLst/>
            <a:gdLst/>
            <a:ahLst/>
            <a:cxnLst/>
            <a:rect r="r" b="b" t="t" l="l"/>
            <a:pathLst>
              <a:path h="4016506" w="4709353">
                <a:moveTo>
                  <a:pt x="0" y="0"/>
                </a:moveTo>
                <a:lnTo>
                  <a:pt x="4709353" y="0"/>
                </a:lnTo>
                <a:lnTo>
                  <a:pt x="4709353" y="4016506"/>
                </a:lnTo>
                <a:lnTo>
                  <a:pt x="0" y="40165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56920" y="3197571"/>
            <a:ext cx="6027101" cy="2726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62"/>
              </a:lnSpc>
            </a:pPr>
            <a:r>
              <a:rPr lang="en-US" b="true" sz="12123" spc="-666">
                <a:solidFill>
                  <a:srgbClr val="661CAB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PROJECT PROGRESS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16077" y="6517964"/>
            <a:ext cx="5057626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9F9F9"/>
                </a:solidFill>
                <a:latin typeface="DM Sans Bold"/>
                <a:ea typeface="DM Sans Bold"/>
                <a:cs typeface="DM Sans Bold"/>
                <a:sym typeface="DM Sans Bold"/>
              </a:rPr>
              <a:t>Futur</a:t>
            </a:r>
            <a:r>
              <a:rPr lang="en-US" b="true" sz="2799" strike="noStrike" u="none">
                <a:solidFill>
                  <a:srgbClr val="F9F9F9"/>
                </a:solidFill>
                <a:latin typeface="DM Sans Bold"/>
                <a:ea typeface="DM Sans Bold"/>
                <a:cs typeface="DM Sans Bold"/>
                <a:sym typeface="DM Sans Bold"/>
              </a:rPr>
              <a:t>e </a:t>
            </a:r>
            <a:r>
              <a:rPr lang="en-US" b="true" sz="2799" strike="noStrike" u="none">
                <a:solidFill>
                  <a:srgbClr val="F9F9F9"/>
                </a:solidFill>
                <a:latin typeface="DM Sans Bold"/>
                <a:ea typeface="DM Sans Bold"/>
                <a:cs typeface="DM Sans Bold"/>
                <a:sym typeface="DM Sans Bold"/>
              </a:rPr>
              <a:t>Improvem</a:t>
            </a:r>
            <a:r>
              <a:rPr lang="en-US" b="true" sz="2799" strike="noStrike" u="none">
                <a:solidFill>
                  <a:srgbClr val="F9F9F9"/>
                </a:solidFill>
                <a:latin typeface="DM Sans Bold"/>
                <a:ea typeface="DM Sans Bold"/>
                <a:cs typeface="DM Sans Bold"/>
                <a:sym typeface="DM Sans Bold"/>
              </a:rPr>
              <a:t>e</a:t>
            </a:r>
            <a:r>
              <a:rPr lang="en-US" b="true" sz="2799" strike="noStrike" u="none">
                <a:solidFill>
                  <a:srgbClr val="F9F9F9"/>
                </a:solidFill>
                <a:latin typeface="DM Sans Bold"/>
                <a:ea typeface="DM Sans Bold"/>
                <a:cs typeface="DM Sans Bold"/>
                <a:sym typeface="DM Sans Bold"/>
              </a:rPr>
              <a:t>nt</a:t>
            </a:r>
            <a:r>
              <a:rPr lang="en-US" b="true" sz="2799" strike="noStrike" u="none">
                <a:solidFill>
                  <a:srgbClr val="F9F9F9"/>
                </a:solidFill>
                <a:latin typeface="DM Sans Bold"/>
                <a:ea typeface="DM Sans Bold"/>
                <a:cs typeface="DM Sans Bold"/>
                <a:sym typeface="DM Sans Bold"/>
              </a:rPr>
              <a:t>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16077" y="7361211"/>
            <a:ext cx="6326711" cy="130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• More government schem</a:t>
            </a:r>
            <a:r>
              <a:rPr lang="en-US" sz="2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 in the database ..</a:t>
            </a:r>
          </a:p>
          <a:p>
            <a:pPr algn="l">
              <a:lnSpc>
                <a:spcPts val="3500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8669522" y="1759746"/>
            <a:ext cx="7001882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F9F9F9"/>
                </a:solidFill>
                <a:latin typeface="DM Sans Bold"/>
                <a:ea typeface="DM Sans Bold"/>
                <a:cs typeface="DM Sans Bold"/>
                <a:sym typeface="DM Sans Bold"/>
              </a:rPr>
              <a:t>Co</a:t>
            </a:r>
            <a:r>
              <a:rPr lang="en-US" b="true" sz="2799" strike="noStrike" u="none">
                <a:solidFill>
                  <a:srgbClr val="F9F9F9"/>
                </a:solidFill>
                <a:latin typeface="DM Sans Bold"/>
                <a:ea typeface="DM Sans Bold"/>
                <a:cs typeface="DM Sans Bold"/>
                <a:sym typeface="DM Sans Bold"/>
              </a:rPr>
              <a:t>mpl</a:t>
            </a:r>
            <a:r>
              <a:rPr lang="en-US" b="true" sz="2799" strike="noStrike" u="none">
                <a:solidFill>
                  <a:srgbClr val="F9F9F9"/>
                </a:solidFill>
                <a:latin typeface="DM Sans Bold"/>
                <a:ea typeface="DM Sans Bold"/>
                <a:cs typeface="DM Sans Bold"/>
                <a:sym typeface="DM Sans Bold"/>
              </a:rPr>
              <a:t>et</a:t>
            </a:r>
            <a:r>
              <a:rPr lang="en-US" b="true" sz="2799" strike="noStrike" u="none">
                <a:solidFill>
                  <a:srgbClr val="F9F9F9"/>
                </a:solidFill>
                <a:latin typeface="DM Sans Bold"/>
                <a:ea typeface="DM Sans Bold"/>
                <a:cs typeface="DM Sans Bold"/>
                <a:sym typeface="DM Sans Bold"/>
              </a:rPr>
              <a:t>e</a:t>
            </a:r>
            <a:r>
              <a:rPr lang="en-US" b="true" sz="2799" strike="noStrike" u="none">
                <a:solidFill>
                  <a:srgbClr val="F9F9F9"/>
                </a:solidFill>
                <a:latin typeface="DM Sans Bold"/>
                <a:ea typeface="DM Sans Bold"/>
                <a:cs typeface="DM Sans Bold"/>
                <a:sym typeface="DM Sans Bold"/>
              </a:rPr>
              <a:t>d C</a:t>
            </a:r>
            <a:r>
              <a:rPr lang="en-US" b="true" sz="2799" strike="noStrike" u="none">
                <a:solidFill>
                  <a:srgbClr val="F9F9F9"/>
                </a:solidFill>
                <a:latin typeface="DM Sans Bold"/>
                <a:ea typeface="DM Sans Bold"/>
                <a:cs typeface="DM Sans Bold"/>
                <a:sym typeface="DM Sans Bold"/>
              </a:rPr>
              <a:t>ompon</a:t>
            </a:r>
            <a:r>
              <a:rPr lang="en-US" b="true" sz="2799" strike="noStrike" u="none">
                <a:solidFill>
                  <a:srgbClr val="F9F9F9"/>
                </a:solidFill>
                <a:latin typeface="DM Sans Bold"/>
                <a:ea typeface="DM Sans Bold"/>
                <a:cs typeface="DM Sans Bold"/>
                <a:sym typeface="DM Sans Bold"/>
              </a:rPr>
              <a:t>en</a:t>
            </a:r>
            <a:r>
              <a:rPr lang="en-US" b="true" sz="2799" strike="noStrike" u="none">
                <a:solidFill>
                  <a:srgbClr val="F9F9F9"/>
                </a:solidFill>
                <a:latin typeface="DM Sans Bold"/>
                <a:ea typeface="DM Sans Bold"/>
                <a:cs typeface="DM Sans Bold"/>
                <a:sym typeface="DM Sans Bold"/>
              </a:rPr>
              <a:t>t</a:t>
            </a:r>
            <a:r>
              <a:rPr lang="en-US" b="true" sz="2799" strike="noStrike" u="none">
                <a:solidFill>
                  <a:srgbClr val="F9F9F9"/>
                </a:solidFill>
                <a:latin typeface="DM Sans Bold"/>
                <a:ea typeface="DM Sans Bold"/>
                <a:cs typeface="DM Sans Bold"/>
                <a:sym typeface="DM Sans Bold"/>
              </a:rPr>
              <a:t>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669522" y="2605241"/>
            <a:ext cx="6696947" cy="174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• User interface design and navigation flow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• Client-side AI query processing engine</a:t>
            </a:r>
          </a:p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•</a:t>
            </a:r>
            <a:r>
              <a:rPr lang="en-US" sz="2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Government scheme dataset integration</a:t>
            </a:r>
          </a:p>
          <a:p>
            <a:pPr algn="l">
              <a:lnSpc>
                <a:spcPts val="3500"/>
              </a:lnSpc>
              <a:spcBef>
                <a:spcPct val="0"/>
              </a:spcBef>
            </a:pP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8041296" y="5636403"/>
            <a:ext cx="4709353" cy="4016506"/>
          </a:xfrm>
          <a:custGeom>
            <a:avLst/>
            <a:gdLst/>
            <a:ahLst/>
            <a:cxnLst/>
            <a:rect r="r" b="b" t="t" l="l"/>
            <a:pathLst>
              <a:path h="4016506" w="4709353">
                <a:moveTo>
                  <a:pt x="0" y="0"/>
                </a:moveTo>
                <a:lnTo>
                  <a:pt x="4709353" y="0"/>
                </a:lnTo>
                <a:lnTo>
                  <a:pt x="4709353" y="4016505"/>
                </a:lnTo>
                <a:lnTo>
                  <a:pt x="0" y="40165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3133509" y="5016061"/>
            <a:ext cx="2812715" cy="2398904"/>
          </a:xfrm>
          <a:custGeom>
            <a:avLst/>
            <a:gdLst/>
            <a:ahLst/>
            <a:cxnLst/>
            <a:rect r="r" b="b" t="t" l="l"/>
            <a:pathLst>
              <a:path h="2398904" w="2812715">
                <a:moveTo>
                  <a:pt x="0" y="0"/>
                </a:moveTo>
                <a:lnTo>
                  <a:pt x="2812715" y="0"/>
                </a:lnTo>
                <a:lnTo>
                  <a:pt x="2812715" y="2398904"/>
                </a:lnTo>
                <a:lnTo>
                  <a:pt x="0" y="23989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true" flipV="true" rot="0">
            <a:off x="-561260" y="5665978"/>
            <a:ext cx="5302225" cy="5345527"/>
          </a:xfrm>
          <a:custGeom>
            <a:avLst/>
            <a:gdLst/>
            <a:ahLst/>
            <a:cxnLst/>
            <a:rect r="r" b="b" t="t" l="l"/>
            <a:pathLst>
              <a:path h="5345527" w="5302225">
                <a:moveTo>
                  <a:pt x="5302225" y="5345527"/>
                </a:moveTo>
                <a:lnTo>
                  <a:pt x="0" y="5345527"/>
                </a:lnTo>
                <a:lnTo>
                  <a:pt x="0" y="0"/>
                </a:lnTo>
                <a:lnTo>
                  <a:pt x="5302225" y="0"/>
                </a:lnTo>
                <a:lnTo>
                  <a:pt x="5302225" y="5345527"/>
                </a:lnTo>
                <a:close/>
              </a:path>
            </a:pathLst>
          </a:custGeom>
          <a:blipFill>
            <a:blip r:embed="rId6"/>
            <a:stretch>
              <a:fillRect l="0" t="-97903" r="-40026" b="0"/>
            </a:stretch>
          </a:blipFill>
        </p:spPr>
      </p:sp>
      <p:sp>
        <p:nvSpPr>
          <p:cNvPr name="Freeform 26" id="26"/>
          <p:cNvSpPr/>
          <p:nvPr/>
        </p:nvSpPr>
        <p:spPr>
          <a:xfrm flipH="true" flipV="true" rot="0">
            <a:off x="12253511" y="-996216"/>
            <a:ext cx="5302225" cy="5345527"/>
          </a:xfrm>
          <a:custGeom>
            <a:avLst/>
            <a:gdLst/>
            <a:ahLst/>
            <a:cxnLst/>
            <a:rect r="r" b="b" t="t" l="l"/>
            <a:pathLst>
              <a:path h="5345527" w="5302225">
                <a:moveTo>
                  <a:pt x="5302225" y="5345527"/>
                </a:moveTo>
                <a:lnTo>
                  <a:pt x="0" y="5345527"/>
                </a:lnTo>
                <a:lnTo>
                  <a:pt x="0" y="0"/>
                </a:lnTo>
                <a:lnTo>
                  <a:pt x="5302225" y="0"/>
                </a:lnTo>
                <a:lnTo>
                  <a:pt x="5302225" y="5345527"/>
                </a:lnTo>
                <a:close/>
              </a:path>
            </a:pathLst>
          </a:custGeom>
          <a:blipFill>
            <a:blip r:embed="rId6"/>
            <a:stretch>
              <a:fillRect l="0" t="-97903" r="-40026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7007230" y="5887603"/>
            <a:ext cx="2561540" cy="2191999"/>
          </a:xfrm>
          <a:custGeom>
            <a:avLst/>
            <a:gdLst/>
            <a:ahLst/>
            <a:cxnLst/>
            <a:rect r="r" b="b" t="t" l="l"/>
            <a:pathLst>
              <a:path h="2191999" w="2561540">
                <a:moveTo>
                  <a:pt x="0" y="0"/>
                </a:moveTo>
                <a:lnTo>
                  <a:pt x="2561540" y="0"/>
                </a:lnTo>
                <a:lnTo>
                  <a:pt x="2561540" y="2191999"/>
                </a:lnTo>
                <a:lnTo>
                  <a:pt x="0" y="21919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1223592" y="5636403"/>
            <a:ext cx="3681031" cy="3149986"/>
          </a:xfrm>
          <a:custGeom>
            <a:avLst/>
            <a:gdLst/>
            <a:ahLst/>
            <a:cxnLst/>
            <a:rect r="r" b="b" t="t" l="l"/>
            <a:pathLst>
              <a:path h="3149986" w="3681031">
                <a:moveTo>
                  <a:pt x="0" y="0"/>
                </a:moveTo>
                <a:lnTo>
                  <a:pt x="3681031" y="0"/>
                </a:lnTo>
                <a:lnTo>
                  <a:pt x="3681031" y="3149986"/>
                </a:lnTo>
                <a:lnTo>
                  <a:pt x="0" y="31499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116583" y="1731171"/>
            <a:ext cx="6026595" cy="803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71"/>
              </a:lnSpc>
              <a:spcBef>
                <a:spcPct val="0"/>
              </a:spcBef>
            </a:pPr>
            <a:r>
              <a:rPr lang="en-US" b="true" sz="4765" spc="-185">
                <a:solidFill>
                  <a:srgbClr val="FF9ADB"/>
                </a:solidFill>
                <a:latin typeface="DM Sans Bold"/>
                <a:ea typeface="DM Sans Bold"/>
                <a:cs typeface="DM Sans Bold"/>
                <a:sym typeface="DM Sans Bold"/>
              </a:rPr>
              <a:t>CURRENTLY SARAL AI</a:t>
            </a:r>
          </a:p>
        </p:txBody>
      </p: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8588" y="-517102"/>
            <a:ext cx="18685176" cy="10804102"/>
          </a:xfrm>
          <a:custGeom>
            <a:avLst/>
            <a:gdLst/>
            <a:ahLst/>
            <a:cxnLst/>
            <a:rect r="r" b="b" t="t" l="l"/>
            <a:pathLst>
              <a:path h="10804102" w="18685176">
                <a:moveTo>
                  <a:pt x="0" y="0"/>
                </a:moveTo>
                <a:lnTo>
                  <a:pt x="18685176" y="0"/>
                </a:lnTo>
                <a:lnTo>
                  <a:pt x="18685176" y="10804102"/>
                </a:lnTo>
                <a:lnTo>
                  <a:pt x="0" y="108041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504" t="-41243" r="-1755" b="-3733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140127" y="8079602"/>
            <a:ext cx="2407826" cy="2060460"/>
          </a:xfrm>
          <a:custGeom>
            <a:avLst/>
            <a:gdLst/>
            <a:ahLst/>
            <a:cxnLst/>
            <a:rect r="r" b="b" t="t" l="l"/>
            <a:pathLst>
              <a:path h="2060460" w="2407826">
                <a:moveTo>
                  <a:pt x="0" y="0"/>
                </a:moveTo>
                <a:lnTo>
                  <a:pt x="2407825" y="0"/>
                </a:lnTo>
                <a:lnTo>
                  <a:pt x="2407825" y="2060460"/>
                </a:lnTo>
                <a:lnTo>
                  <a:pt x="0" y="20604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16583" y="1028700"/>
            <a:ext cx="844020" cy="208856"/>
            <a:chOff x="0" y="0"/>
            <a:chExt cx="1125361" cy="278475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278475" cy="278475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9ADB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416011" y="0"/>
              <a:ext cx="278475" cy="278475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2A9F1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846886" y="0"/>
              <a:ext cx="278475" cy="278475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83ECD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4" id="14"/>
          <p:cNvSpPr/>
          <p:nvPr/>
        </p:nvSpPr>
        <p:spPr>
          <a:xfrm flipH="false" flipV="false" rot="0">
            <a:off x="12253511" y="6666633"/>
            <a:ext cx="4709353" cy="4016506"/>
          </a:xfrm>
          <a:custGeom>
            <a:avLst/>
            <a:gdLst/>
            <a:ahLst/>
            <a:cxnLst/>
            <a:rect r="r" b="b" t="t" l="l"/>
            <a:pathLst>
              <a:path h="4016506" w="4709353">
                <a:moveTo>
                  <a:pt x="0" y="0"/>
                </a:moveTo>
                <a:lnTo>
                  <a:pt x="4709353" y="0"/>
                </a:lnTo>
                <a:lnTo>
                  <a:pt x="4709353" y="4016506"/>
                </a:lnTo>
                <a:lnTo>
                  <a:pt x="0" y="40165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904623" y="4584698"/>
            <a:ext cx="2812715" cy="2398904"/>
          </a:xfrm>
          <a:custGeom>
            <a:avLst/>
            <a:gdLst/>
            <a:ahLst/>
            <a:cxnLst/>
            <a:rect r="r" b="b" t="t" l="l"/>
            <a:pathLst>
              <a:path h="2398904" w="2812715">
                <a:moveTo>
                  <a:pt x="0" y="0"/>
                </a:moveTo>
                <a:lnTo>
                  <a:pt x="2812715" y="0"/>
                </a:lnTo>
                <a:lnTo>
                  <a:pt x="2812715" y="2398904"/>
                </a:lnTo>
                <a:lnTo>
                  <a:pt x="0" y="23989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true" rot="0">
            <a:off x="-561260" y="5665978"/>
            <a:ext cx="5302225" cy="5345527"/>
          </a:xfrm>
          <a:custGeom>
            <a:avLst/>
            <a:gdLst/>
            <a:ahLst/>
            <a:cxnLst/>
            <a:rect r="r" b="b" t="t" l="l"/>
            <a:pathLst>
              <a:path h="5345527" w="5302225">
                <a:moveTo>
                  <a:pt x="5302225" y="5345527"/>
                </a:moveTo>
                <a:lnTo>
                  <a:pt x="0" y="5345527"/>
                </a:lnTo>
                <a:lnTo>
                  <a:pt x="0" y="0"/>
                </a:lnTo>
                <a:lnTo>
                  <a:pt x="5302225" y="0"/>
                </a:lnTo>
                <a:lnTo>
                  <a:pt x="5302225" y="5345527"/>
                </a:lnTo>
                <a:close/>
              </a:path>
            </a:pathLst>
          </a:custGeom>
          <a:blipFill>
            <a:blip r:embed="rId6"/>
            <a:stretch>
              <a:fillRect l="0" t="-97903" r="-40026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true" rot="0">
            <a:off x="12253511" y="-996216"/>
            <a:ext cx="5302225" cy="5345527"/>
          </a:xfrm>
          <a:custGeom>
            <a:avLst/>
            <a:gdLst/>
            <a:ahLst/>
            <a:cxnLst/>
            <a:rect r="r" b="b" t="t" l="l"/>
            <a:pathLst>
              <a:path h="5345527" w="5302225">
                <a:moveTo>
                  <a:pt x="5302225" y="5345527"/>
                </a:moveTo>
                <a:lnTo>
                  <a:pt x="0" y="5345527"/>
                </a:lnTo>
                <a:lnTo>
                  <a:pt x="0" y="0"/>
                </a:lnTo>
                <a:lnTo>
                  <a:pt x="5302225" y="0"/>
                </a:lnTo>
                <a:lnTo>
                  <a:pt x="5302225" y="5345527"/>
                </a:lnTo>
                <a:close/>
              </a:path>
            </a:pathLst>
          </a:custGeom>
          <a:blipFill>
            <a:blip r:embed="rId6"/>
            <a:stretch>
              <a:fillRect l="0" t="-97903" r="-40026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7007230" y="5887603"/>
            <a:ext cx="2561540" cy="2191999"/>
          </a:xfrm>
          <a:custGeom>
            <a:avLst/>
            <a:gdLst/>
            <a:ahLst/>
            <a:cxnLst/>
            <a:rect r="r" b="b" t="t" l="l"/>
            <a:pathLst>
              <a:path h="2191999" w="2561540">
                <a:moveTo>
                  <a:pt x="0" y="0"/>
                </a:moveTo>
                <a:lnTo>
                  <a:pt x="2561540" y="0"/>
                </a:lnTo>
                <a:lnTo>
                  <a:pt x="2561540" y="2191999"/>
                </a:lnTo>
                <a:lnTo>
                  <a:pt x="0" y="21919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1829939" y="3833616"/>
            <a:ext cx="3681031" cy="3149986"/>
          </a:xfrm>
          <a:custGeom>
            <a:avLst/>
            <a:gdLst/>
            <a:ahLst/>
            <a:cxnLst/>
            <a:rect r="r" b="b" t="t" l="l"/>
            <a:pathLst>
              <a:path h="3149986" w="3681031">
                <a:moveTo>
                  <a:pt x="0" y="0"/>
                </a:moveTo>
                <a:lnTo>
                  <a:pt x="3681031" y="0"/>
                </a:lnTo>
                <a:lnTo>
                  <a:pt x="3681031" y="3149986"/>
                </a:lnTo>
                <a:lnTo>
                  <a:pt x="0" y="31499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aphicFrame>
        <p:nvGraphicFramePr>
          <p:cNvPr name="Object 20" id="20"/>
          <p:cNvGraphicFramePr/>
          <p:nvPr/>
        </p:nvGraphicFramePr>
        <p:xfrm>
          <a:off x="540584" y="2241076"/>
          <a:ext cx="7543800" cy="2514600"/>
        </p:xfrm>
        <a:graphic>
          <a:graphicData uri="http://schemas.openxmlformats.org/presentationml/2006/ole">
            <p:oleObj imgW="9042400" imgH="4013200" r:id="rId8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21" id="21"/>
          <p:cNvSpPr txBox="true"/>
          <p:nvPr/>
        </p:nvSpPr>
        <p:spPr>
          <a:xfrm rot="0">
            <a:off x="2301512" y="802325"/>
            <a:ext cx="6027101" cy="1438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62"/>
              </a:lnSpc>
            </a:pPr>
            <a:r>
              <a:rPr lang="en-US" b="true" sz="12123" spc="-666">
                <a:solidFill>
                  <a:srgbClr val="661CAB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BACKEND PLAN </a:t>
            </a:r>
          </a:p>
        </p:txBody>
      </p: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22002" y="-221424"/>
            <a:ext cx="18685176" cy="10804102"/>
          </a:xfrm>
          <a:custGeom>
            <a:avLst/>
            <a:gdLst/>
            <a:ahLst/>
            <a:cxnLst/>
            <a:rect r="r" b="b" t="t" l="l"/>
            <a:pathLst>
              <a:path h="10804102" w="18685176">
                <a:moveTo>
                  <a:pt x="0" y="0"/>
                </a:moveTo>
                <a:lnTo>
                  <a:pt x="18685176" y="0"/>
                </a:lnTo>
                <a:lnTo>
                  <a:pt x="18685176" y="10804102"/>
                </a:lnTo>
                <a:lnTo>
                  <a:pt x="0" y="108041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504" t="-41243" r="-1755" b="-3733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61141" y="4922638"/>
            <a:ext cx="8888129" cy="4681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5"/>
              </a:lnSpc>
            </a:pPr>
            <a:r>
              <a:rPr lang="en-US" sz="2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• Saral</a:t>
            </a:r>
            <a:r>
              <a:rPr lang="en-US" sz="2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AI simplifies access to government scheme</a:t>
            </a:r>
          </a:p>
          <a:p>
            <a:pPr algn="ctr">
              <a:lnSpc>
                <a:spcPts val="4675"/>
              </a:lnSpc>
            </a:pPr>
            <a:r>
              <a:rPr lang="en-US" sz="2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  <a:p>
            <a:pPr algn="ctr">
              <a:lnSpc>
                <a:spcPts val="4675"/>
              </a:lnSpc>
            </a:pPr>
            <a:r>
              <a:rPr lang="en-US" sz="2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• Voice-first interaction makes the system accessible to more citizens</a:t>
            </a:r>
          </a:p>
          <a:p>
            <a:pPr algn="ctr">
              <a:lnSpc>
                <a:spcPts val="4675"/>
              </a:lnSpc>
            </a:pPr>
          </a:p>
          <a:p>
            <a:pPr algn="ctr">
              <a:lnSpc>
                <a:spcPts val="4675"/>
              </a:lnSpc>
            </a:pPr>
            <a:r>
              <a:rPr lang="en-US" sz="2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• AI helps generate clear explanations of eligibility, documents, and application steps</a:t>
            </a:r>
          </a:p>
          <a:p>
            <a:pPr algn="ctr">
              <a:lnSpc>
                <a:spcPts val="4675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true" flipV="true" rot="3899053">
            <a:off x="-58014" y="1752024"/>
            <a:ext cx="5775683" cy="8229600"/>
          </a:xfrm>
          <a:custGeom>
            <a:avLst/>
            <a:gdLst/>
            <a:ahLst/>
            <a:cxnLst/>
            <a:rect r="r" b="b" t="t" l="l"/>
            <a:pathLst>
              <a:path h="8229600" w="5775683">
                <a:moveTo>
                  <a:pt x="5775683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5775683" y="0"/>
                </a:lnTo>
                <a:lnTo>
                  <a:pt x="5775683" y="822960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8100000">
            <a:off x="12714611" y="3782339"/>
            <a:ext cx="5775683" cy="8229600"/>
          </a:xfrm>
          <a:custGeom>
            <a:avLst/>
            <a:gdLst/>
            <a:ahLst/>
            <a:cxnLst/>
            <a:rect r="r" b="b" t="t" l="l"/>
            <a:pathLst>
              <a:path h="8229600" w="5775683">
                <a:moveTo>
                  <a:pt x="0" y="0"/>
                </a:moveTo>
                <a:lnTo>
                  <a:pt x="5775683" y="0"/>
                </a:lnTo>
                <a:lnTo>
                  <a:pt x="577568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208987" y="3978870"/>
            <a:ext cx="1957917" cy="1676466"/>
          </a:xfrm>
          <a:custGeom>
            <a:avLst/>
            <a:gdLst/>
            <a:ahLst/>
            <a:cxnLst/>
            <a:rect r="r" b="b" t="t" l="l"/>
            <a:pathLst>
              <a:path h="1676466" w="1957917">
                <a:moveTo>
                  <a:pt x="0" y="0"/>
                </a:moveTo>
                <a:lnTo>
                  <a:pt x="1957917" y="0"/>
                </a:lnTo>
                <a:lnTo>
                  <a:pt x="1957917" y="1676466"/>
                </a:lnTo>
                <a:lnTo>
                  <a:pt x="0" y="16764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68698">
            <a:off x="13822118" y="1442193"/>
            <a:ext cx="1896123" cy="1623556"/>
          </a:xfrm>
          <a:custGeom>
            <a:avLst/>
            <a:gdLst/>
            <a:ahLst/>
            <a:cxnLst/>
            <a:rect r="r" b="b" t="t" l="l"/>
            <a:pathLst>
              <a:path h="1623556" w="1896123">
                <a:moveTo>
                  <a:pt x="0" y="0"/>
                </a:moveTo>
                <a:lnTo>
                  <a:pt x="1896123" y="0"/>
                </a:lnTo>
                <a:lnTo>
                  <a:pt x="1896123" y="1623556"/>
                </a:lnTo>
                <a:lnTo>
                  <a:pt x="0" y="16235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617979">
            <a:off x="-3544948" y="-1480780"/>
            <a:ext cx="6645893" cy="5981303"/>
          </a:xfrm>
          <a:custGeom>
            <a:avLst/>
            <a:gdLst/>
            <a:ahLst/>
            <a:cxnLst/>
            <a:rect r="r" b="b" t="t" l="l"/>
            <a:pathLst>
              <a:path h="5981303" w="6645893">
                <a:moveTo>
                  <a:pt x="0" y="0"/>
                </a:moveTo>
                <a:lnTo>
                  <a:pt x="6645892" y="0"/>
                </a:lnTo>
                <a:lnTo>
                  <a:pt x="6645892" y="5981303"/>
                </a:lnTo>
                <a:lnTo>
                  <a:pt x="0" y="59813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3196794">
            <a:off x="16203073" y="-600968"/>
            <a:ext cx="6645893" cy="5981303"/>
          </a:xfrm>
          <a:custGeom>
            <a:avLst/>
            <a:gdLst/>
            <a:ahLst/>
            <a:cxnLst/>
            <a:rect r="r" b="b" t="t" l="l"/>
            <a:pathLst>
              <a:path h="5981303" w="6645893">
                <a:moveTo>
                  <a:pt x="0" y="0"/>
                </a:moveTo>
                <a:lnTo>
                  <a:pt x="6645893" y="0"/>
                </a:lnTo>
                <a:lnTo>
                  <a:pt x="6645893" y="5981304"/>
                </a:lnTo>
                <a:lnTo>
                  <a:pt x="0" y="59813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8721990" y="4426561"/>
            <a:ext cx="844020" cy="208856"/>
            <a:chOff x="0" y="0"/>
            <a:chExt cx="1125361" cy="278475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278475" cy="278475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9ADB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416011" y="0"/>
              <a:ext cx="278475" cy="278475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2A9F1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846886" y="0"/>
              <a:ext cx="278475" cy="278475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83ECD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20" id="20"/>
          <p:cNvGrpSpPr/>
          <p:nvPr/>
        </p:nvGrpSpPr>
        <p:grpSpPr>
          <a:xfrm rot="0">
            <a:off x="6382704" y="2945523"/>
            <a:ext cx="5958713" cy="905021"/>
            <a:chOff x="0" y="0"/>
            <a:chExt cx="7944951" cy="1206694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190223" y="0"/>
              <a:ext cx="7259084" cy="1206694"/>
              <a:chOff x="0" y="0"/>
              <a:chExt cx="1546619" cy="257098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546619" cy="257098"/>
              </a:xfrm>
              <a:custGeom>
                <a:avLst/>
                <a:gdLst/>
                <a:ahLst/>
                <a:cxnLst/>
                <a:rect r="r" b="b" t="t" l="l"/>
                <a:pathLst>
                  <a:path h="257098" w="1546619">
                    <a:moveTo>
                      <a:pt x="0" y="0"/>
                    </a:moveTo>
                    <a:lnTo>
                      <a:pt x="1546619" y="0"/>
                    </a:lnTo>
                    <a:lnTo>
                      <a:pt x="1546619" y="257098"/>
                    </a:lnTo>
                    <a:lnTo>
                      <a:pt x="0" y="257098"/>
                    </a:lnTo>
                    <a:close/>
                  </a:path>
                </a:pathLst>
              </a:custGeom>
              <a:solidFill>
                <a:srgbClr val="883ECD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1546619" cy="29519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0" y="39510"/>
              <a:ext cx="7944951" cy="1041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671"/>
                </a:lnSpc>
                <a:spcBef>
                  <a:spcPct val="0"/>
                </a:spcBef>
              </a:pPr>
              <a:r>
                <a:rPr lang="en-US" b="true" sz="4765" spc="-185">
                  <a:solidFill>
                    <a:srgbClr val="FF9AD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KEY</a:t>
              </a:r>
              <a:r>
                <a:rPr lang="en-US" b="true" sz="4765" spc="-185">
                  <a:solidFill>
                    <a:srgbClr val="FF9AD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 TAKEAWAYS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-3082875" y="6251527"/>
            <a:ext cx="6664991" cy="5374993"/>
          </a:xfrm>
          <a:custGeom>
            <a:avLst/>
            <a:gdLst/>
            <a:ahLst/>
            <a:cxnLst/>
            <a:rect r="r" b="b" t="t" l="l"/>
            <a:pathLst>
              <a:path h="5374993" w="6664991">
                <a:moveTo>
                  <a:pt x="0" y="0"/>
                </a:moveTo>
                <a:lnTo>
                  <a:pt x="6664991" y="0"/>
                </a:lnTo>
                <a:lnTo>
                  <a:pt x="6664991" y="5374992"/>
                </a:lnTo>
                <a:lnTo>
                  <a:pt x="0" y="537499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true" flipV="false" rot="0">
            <a:off x="14082040" y="6102052"/>
            <a:ext cx="6664991" cy="5374993"/>
          </a:xfrm>
          <a:custGeom>
            <a:avLst/>
            <a:gdLst/>
            <a:ahLst/>
            <a:cxnLst/>
            <a:rect r="r" b="b" t="t" l="l"/>
            <a:pathLst>
              <a:path h="5374993" w="6664991">
                <a:moveTo>
                  <a:pt x="6664991" y="0"/>
                </a:moveTo>
                <a:lnTo>
                  <a:pt x="0" y="0"/>
                </a:lnTo>
                <a:lnTo>
                  <a:pt x="0" y="5374992"/>
                </a:lnTo>
                <a:lnTo>
                  <a:pt x="6664991" y="5374992"/>
                </a:lnTo>
                <a:lnTo>
                  <a:pt x="6664991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22002" y="-221424"/>
            <a:ext cx="18685176" cy="10804102"/>
          </a:xfrm>
          <a:custGeom>
            <a:avLst/>
            <a:gdLst/>
            <a:ahLst/>
            <a:cxnLst/>
            <a:rect r="r" b="b" t="t" l="l"/>
            <a:pathLst>
              <a:path h="10804102" w="18685176">
                <a:moveTo>
                  <a:pt x="0" y="0"/>
                </a:moveTo>
                <a:lnTo>
                  <a:pt x="18685176" y="0"/>
                </a:lnTo>
                <a:lnTo>
                  <a:pt x="18685176" y="10804102"/>
                </a:lnTo>
                <a:lnTo>
                  <a:pt x="0" y="108041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504" t="-41243" r="-1755" b="-37339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854541" y="4853626"/>
            <a:ext cx="7424530" cy="6120103"/>
          </a:xfrm>
          <a:custGeom>
            <a:avLst/>
            <a:gdLst/>
            <a:ahLst/>
            <a:cxnLst/>
            <a:rect r="r" b="b" t="t" l="l"/>
            <a:pathLst>
              <a:path h="6120103" w="7424530">
                <a:moveTo>
                  <a:pt x="7424530" y="6120103"/>
                </a:moveTo>
                <a:lnTo>
                  <a:pt x="0" y="6120103"/>
                </a:lnTo>
                <a:lnTo>
                  <a:pt x="0" y="0"/>
                </a:lnTo>
                <a:lnTo>
                  <a:pt x="7424530" y="0"/>
                </a:lnTo>
                <a:lnTo>
                  <a:pt x="7424530" y="6120103"/>
                </a:lnTo>
                <a:close/>
              </a:path>
            </a:pathLst>
          </a:custGeom>
          <a:blipFill>
            <a:blip r:embed="rId4"/>
            <a:stretch>
              <a:fillRect l="0" t="-72856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305389" y="1133128"/>
            <a:ext cx="2610778" cy="2234134"/>
          </a:xfrm>
          <a:custGeom>
            <a:avLst/>
            <a:gdLst/>
            <a:ahLst/>
            <a:cxnLst/>
            <a:rect r="r" b="b" t="t" l="l"/>
            <a:pathLst>
              <a:path h="2234134" w="2610778">
                <a:moveTo>
                  <a:pt x="0" y="0"/>
                </a:moveTo>
                <a:lnTo>
                  <a:pt x="2610778" y="0"/>
                </a:lnTo>
                <a:lnTo>
                  <a:pt x="2610778" y="2234134"/>
                </a:lnTo>
                <a:lnTo>
                  <a:pt x="0" y="22341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1028700"/>
            <a:ext cx="844020" cy="208856"/>
            <a:chOff x="0" y="0"/>
            <a:chExt cx="1125361" cy="278475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278475" cy="278475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9ADB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416011" y="0"/>
              <a:ext cx="278475" cy="278475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2A9F1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46886" y="0"/>
              <a:ext cx="278475" cy="278475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83ECD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5" id="15"/>
          <p:cNvSpPr/>
          <p:nvPr/>
        </p:nvSpPr>
        <p:spPr>
          <a:xfrm flipH="true" flipV="false" rot="0">
            <a:off x="-1669097" y="1644820"/>
            <a:ext cx="11386002" cy="8229600"/>
          </a:xfrm>
          <a:custGeom>
            <a:avLst/>
            <a:gdLst/>
            <a:ahLst/>
            <a:cxnLst/>
            <a:rect r="r" b="b" t="t" l="l"/>
            <a:pathLst>
              <a:path h="8229600" w="11386002">
                <a:moveTo>
                  <a:pt x="11386002" y="0"/>
                </a:moveTo>
                <a:lnTo>
                  <a:pt x="0" y="0"/>
                </a:lnTo>
                <a:lnTo>
                  <a:pt x="0" y="8229600"/>
                </a:lnTo>
                <a:lnTo>
                  <a:pt x="11386002" y="8229600"/>
                </a:lnTo>
                <a:lnTo>
                  <a:pt x="11386002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439336" y="1644820"/>
            <a:ext cx="3409329" cy="2917481"/>
          </a:xfrm>
          <a:custGeom>
            <a:avLst/>
            <a:gdLst/>
            <a:ahLst/>
            <a:cxnLst/>
            <a:rect r="r" b="b" t="t" l="l"/>
            <a:pathLst>
              <a:path h="2917481" w="3409329">
                <a:moveTo>
                  <a:pt x="0" y="0"/>
                </a:moveTo>
                <a:lnTo>
                  <a:pt x="3409328" y="0"/>
                </a:lnTo>
                <a:lnTo>
                  <a:pt x="3409328" y="2917481"/>
                </a:lnTo>
                <a:lnTo>
                  <a:pt x="0" y="29174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true" rot="0">
            <a:off x="863390" y="-408289"/>
            <a:ext cx="7424530" cy="6120103"/>
          </a:xfrm>
          <a:custGeom>
            <a:avLst/>
            <a:gdLst/>
            <a:ahLst/>
            <a:cxnLst/>
            <a:rect r="r" b="b" t="t" l="l"/>
            <a:pathLst>
              <a:path h="6120103" w="7424530">
                <a:moveTo>
                  <a:pt x="7424530" y="6120103"/>
                </a:moveTo>
                <a:lnTo>
                  <a:pt x="0" y="6120103"/>
                </a:lnTo>
                <a:lnTo>
                  <a:pt x="0" y="0"/>
                </a:lnTo>
                <a:lnTo>
                  <a:pt x="7424530" y="0"/>
                </a:lnTo>
                <a:lnTo>
                  <a:pt x="7424530" y="6120103"/>
                </a:lnTo>
                <a:close/>
              </a:path>
            </a:pathLst>
          </a:custGeom>
          <a:blipFill>
            <a:blip r:embed="rId4"/>
            <a:stretch>
              <a:fillRect l="0" t="-72856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1072378" y="4581496"/>
            <a:ext cx="5725152" cy="2972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0921"/>
              </a:lnSpc>
            </a:pPr>
            <a:r>
              <a:rPr lang="en-US" b="true" sz="13158" spc="-723">
                <a:solidFill>
                  <a:srgbClr val="661CAB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YOUR THOUGHTS</a:t>
            </a:r>
          </a:p>
        </p:txBody>
      </p:sp>
    </p:spTree>
  </p:cSld>
  <p:clrMapOvr>
    <a:masterClrMapping/>
  </p:clrMapOvr>
  <p:transition spd="slow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22002" y="-221424"/>
            <a:ext cx="18685176" cy="10804102"/>
          </a:xfrm>
          <a:custGeom>
            <a:avLst/>
            <a:gdLst/>
            <a:ahLst/>
            <a:cxnLst/>
            <a:rect r="r" b="b" t="t" l="l"/>
            <a:pathLst>
              <a:path h="10804102" w="18685176">
                <a:moveTo>
                  <a:pt x="0" y="0"/>
                </a:moveTo>
                <a:lnTo>
                  <a:pt x="18685176" y="0"/>
                </a:lnTo>
                <a:lnTo>
                  <a:pt x="18685176" y="10804102"/>
                </a:lnTo>
                <a:lnTo>
                  <a:pt x="0" y="108041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504" t="-41243" r="-1755" b="-3733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4565657" y="-1338614"/>
            <a:ext cx="8740190" cy="12453638"/>
          </a:xfrm>
          <a:custGeom>
            <a:avLst/>
            <a:gdLst/>
            <a:ahLst/>
            <a:cxnLst/>
            <a:rect r="r" b="b" t="t" l="l"/>
            <a:pathLst>
              <a:path h="12453638" w="8740190">
                <a:moveTo>
                  <a:pt x="0" y="0"/>
                </a:moveTo>
                <a:lnTo>
                  <a:pt x="8740190" y="0"/>
                </a:lnTo>
                <a:lnTo>
                  <a:pt x="8740190" y="12453638"/>
                </a:lnTo>
                <a:lnTo>
                  <a:pt x="0" y="124536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264560" y="3340816"/>
            <a:ext cx="9972821" cy="2623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796"/>
              </a:lnSpc>
              <a:spcBef>
                <a:spcPct val="0"/>
              </a:spcBef>
            </a:pPr>
            <a:r>
              <a:rPr lang="en-US" b="true" sz="24049" spc="-1322">
                <a:solidFill>
                  <a:srgbClr val="661CAB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THANK YOU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684989" y="2209090"/>
            <a:ext cx="844020" cy="208856"/>
            <a:chOff x="0" y="0"/>
            <a:chExt cx="1125361" cy="278475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278475" cy="278475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9ADB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416011" y="0"/>
              <a:ext cx="278475" cy="278475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2A9F1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46886" y="0"/>
              <a:ext cx="278475" cy="278475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83ECD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5749367" y="5547851"/>
            <a:ext cx="6742437" cy="905021"/>
            <a:chOff x="0" y="0"/>
            <a:chExt cx="1915389" cy="25709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15389" cy="257098"/>
            </a:xfrm>
            <a:custGeom>
              <a:avLst/>
              <a:gdLst/>
              <a:ahLst/>
              <a:cxnLst/>
              <a:rect r="r" b="b" t="t" l="l"/>
              <a:pathLst>
                <a:path h="257098" w="1915389">
                  <a:moveTo>
                    <a:pt x="0" y="0"/>
                  </a:moveTo>
                  <a:lnTo>
                    <a:pt x="1915389" y="0"/>
                  </a:lnTo>
                  <a:lnTo>
                    <a:pt x="1915389" y="257098"/>
                  </a:lnTo>
                  <a:lnTo>
                    <a:pt x="0" y="257098"/>
                  </a:lnTo>
                  <a:close/>
                </a:path>
              </a:pathLst>
            </a:custGeom>
            <a:solidFill>
              <a:srgbClr val="883EC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915389" cy="2951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721990" y="6883621"/>
            <a:ext cx="844020" cy="208856"/>
            <a:chOff x="0" y="0"/>
            <a:chExt cx="1125361" cy="278475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278475" cy="278475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9ADB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416011" y="0"/>
              <a:ext cx="278475" cy="278475"/>
              <a:chOff x="0" y="0"/>
              <a:chExt cx="812800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2A9F1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846886" y="0"/>
              <a:ext cx="278475" cy="278475"/>
              <a:chOff x="0" y="0"/>
              <a:chExt cx="812800" cy="812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83ECD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28" id="28"/>
          <p:cNvSpPr/>
          <p:nvPr/>
        </p:nvSpPr>
        <p:spPr>
          <a:xfrm flipH="false" flipV="false" rot="0">
            <a:off x="1063429" y="7981917"/>
            <a:ext cx="4709353" cy="4016506"/>
          </a:xfrm>
          <a:custGeom>
            <a:avLst/>
            <a:gdLst/>
            <a:ahLst/>
            <a:cxnLst/>
            <a:rect r="r" b="b" t="t" l="l"/>
            <a:pathLst>
              <a:path h="4016506" w="4709353">
                <a:moveTo>
                  <a:pt x="0" y="0"/>
                </a:moveTo>
                <a:lnTo>
                  <a:pt x="4709353" y="0"/>
                </a:lnTo>
                <a:lnTo>
                  <a:pt x="4709353" y="4016506"/>
                </a:lnTo>
                <a:lnTo>
                  <a:pt x="0" y="40165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true" flipV="false" rot="0">
            <a:off x="1709391" y="5572564"/>
            <a:ext cx="2064321" cy="1760615"/>
          </a:xfrm>
          <a:custGeom>
            <a:avLst/>
            <a:gdLst/>
            <a:ahLst/>
            <a:cxnLst/>
            <a:rect r="r" b="b" t="t" l="l"/>
            <a:pathLst>
              <a:path h="1760615" w="2064321">
                <a:moveTo>
                  <a:pt x="2064321" y="0"/>
                </a:moveTo>
                <a:lnTo>
                  <a:pt x="0" y="0"/>
                </a:lnTo>
                <a:lnTo>
                  <a:pt x="0" y="1760615"/>
                </a:lnTo>
                <a:lnTo>
                  <a:pt x="2064321" y="1760615"/>
                </a:lnTo>
                <a:lnTo>
                  <a:pt x="2064321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4130410" y="5572564"/>
            <a:ext cx="2064321" cy="1760615"/>
          </a:xfrm>
          <a:custGeom>
            <a:avLst/>
            <a:gdLst/>
            <a:ahLst/>
            <a:cxnLst/>
            <a:rect r="r" b="b" t="t" l="l"/>
            <a:pathLst>
              <a:path h="1760615" w="2064321">
                <a:moveTo>
                  <a:pt x="0" y="0"/>
                </a:moveTo>
                <a:lnTo>
                  <a:pt x="2064322" y="0"/>
                </a:lnTo>
                <a:lnTo>
                  <a:pt x="2064322" y="1760615"/>
                </a:lnTo>
                <a:lnTo>
                  <a:pt x="0" y="17606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true" flipV="false" rot="0">
            <a:off x="12549947" y="7981917"/>
            <a:ext cx="4709353" cy="4016506"/>
          </a:xfrm>
          <a:custGeom>
            <a:avLst/>
            <a:gdLst/>
            <a:ahLst/>
            <a:cxnLst/>
            <a:rect r="r" b="b" t="t" l="l"/>
            <a:pathLst>
              <a:path h="4016506" w="4709353">
                <a:moveTo>
                  <a:pt x="4709353" y="0"/>
                </a:moveTo>
                <a:lnTo>
                  <a:pt x="0" y="0"/>
                </a:lnTo>
                <a:lnTo>
                  <a:pt x="0" y="4016506"/>
                </a:lnTo>
                <a:lnTo>
                  <a:pt x="4709353" y="4016506"/>
                </a:lnTo>
                <a:lnTo>
                  <a:pt x="4709353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-2872180" y="-221424"/>
            <a:ext cx="6645893" cy="5981303"/>
          </a:xfrm>
          <a:custGeom>
            <a:avLst/>
            <a:gdLst/>
            <a:ahLst/>
            <a:cxnLst/>
            <a:rect r="r" b="b" t="t" l="l"/>
            <a:pathLst>
              <a:path h="5981303" w="6645893">
                <a:moveTo>
                  <a:pt x="0" y="0"/>
                </a:moveTo>
                <a:lnTo>
                  <a:pt x="6645892" y="0"/>
                </a:lnTo>
                <a:lnTo>
                  <a:pt x="6645892" y="5981303"/>
                </a:lnTo>
                <a:lnTo>
                  <a:pt x="0" y="59813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true" flipV="false" rot="0">
            <a:off x="14511410" y="-221424"/>
            <a:ext cx="6645893" cy="5981303"/>
          </a:xfrm>
          <a:custGeom>
            <a:avLst/>
            <a:gdLst/>
            <a:ahLst/>
            <a:cxnLst/>
            <a:rect r="r" b="b" t="t" l="l"/>
            <a:pathLst>
              <a:path h="5981303" w="6645893">
                <a:moveTo>
                  <a:pt x="6645893" y="0"/>
                </a:moveTo>
                <a:lnTo>
                  <a:pt x="0" y="0"/>
                </a:lnTo>
                <a:lnTo>
                  <a:pt x="0" y="5981303"/>
                </a:lnTo>
                <a:lnTo>
                  <a:pt x="6645893" y="5981303"/>
                </a:lnTo>
                <a:lnTo>
                  <a:pt x="6645893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47914" y="5143500"/>
            <a:ext cx="3270191" cy="2798416"/>
          </a:xfrm>
          <a:custGeom>
            <a:avLst/>
            <a:gdLst/>
            <a:ahLst/>
            <a:cxnLst/>
            <a:rect r="r" b="b" t="t" l="l"/>
            <a:pathLst>
              <a:path h="2798416" w="3270191">
                <a:moveTo>
                  <a:pt x="0" y="0"/>
                </a:moveTo>
                <a:lnTo>
                  <a:pt x="3270191" y="0"/>
                </a:lnTo>
                <a:lnTo>
                  <a:pt x="3270191" y="2798416"/>
                </a:lnTo>
                <a:lnTo>
                  <a:pt x="0" y="27984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3103817" y="6639967"/>
            <a:ext cx="3270191" cy="2798416"/>
          </a:xfrm>
          <a:custGeom>
            <a:avLst/>
            <a:gdLst/>
            <a:ahLst/>
            <a:cxnLst/>
            <a:rect r="r" b="b" t="t" l="l"/>
            <a:pathLst>
              <a:path h="2798416" w="3270191">
                <a:moveTo>
                  <a:pt x="0" y="0"/>
                </a:moveTo>
                <a:lnTo>
                  <a:pt x="3270191" y="0"/>
                </a:lnTo>
                <a:lnTo>
                  <a:pt x="3270191" y="2798416"/>
                </a:lnTo>
                <a:lnTo>
                  <a:pt x="0" y="27984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true" flipV="false" rot="0">
            <a:off x="16374008" y="1279734"/>
            <a:ext cx="2667256" cy="2282464"/>
          </a:xfrm>
          <a:custGeom>
            <a:avLst/>
            <a:gdLst/>
            <a:ahLst/>
            <a:cxnLst/>
            <a:rect r="r" b="b" t="t" l="l"/>
            <a:pathLst>
              <a:path h="2282464" w="2667256">
                <a:moveTo>
                  <a:pt x="2667257" y="0"/>
                </a:moveTo>
                <a:lnTo>
                  <a:pt x="0" y="0"/>
                </a:lnTo>
                <a:lnTo>
                  <a:pt x="0" y="2282464"/>
                </a:lnTo>
                <a:lnTo>
                  <a:pt x="2667257" y="2282464"/>
                </a:lnTo>
                <a:lnTo>
                  <a:pt x="2667257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74295" y="1279734"/>
            <a:ext cx="2667256" cy="2282464"/>
          </a:xfrm>
          <a:custGeom>
            <a:avLst/>
            <a:gdLst/>
            <a:ahLst/>
            <a:cxnLst/>
            <a:rect r="r" b="b" t="t" l="l"/>
            <a:pathLst>
              <a:path h="2282464" w="2667256">
                <a:moveTo>
                  <a:pt x="0" y="0"/>
                </a:moveTo>
                <a:lnTo>
                  <a:pt x="2667257" y="0"/>
                </a:lnTo>
                <a:lnTo>
                  <a:pt x="2667257" y="2282464"/>
                </a:lnTo>
                <a:lnTo>
                  <a:pt x="0" y="228246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5373858" y="1028700"/>
            <a:ext cx="1887696" cy="1615367"/>
          </a:xfrm>
          <a:custGeom>
            <a:avLst/>
            <a:gdLst/>
            <a:ahLst/>
            <a:cxnLst/>
            <a:rect r="r" b="b" t="t" l="l"/>
            <a:pathLst>
              <a:path h="1615367" w="1887696">
                <a:moveTo>
                  <a:pt x="0" y="0"/>
                </a:moveTo>
                <a:lnTo>
                  <a:pt x="1887696" y="0"/>
                </a:lnTo>
                <a:lnTo>
                  <a:pt x="1887696" y="1615367"/>
                </a:lnTo>
                <a:lnTo>
                  <a:pt x="0" y="16153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true" flipV="false" rot="0">
            <a:off x="12788704" y="1028700"/>
            <a:ext cx="1887696" cy="1615367"/>
          </a:xfrm>
          <a:custGeom>
            <a:avLst/>
            <a:gdLst/>
            <a:ahLst/>
            <a:cxnLst/>
            <a:rect r="r" b="b" t="t" l="l"/>
            <a:pathLst>
              <a:path h="1615367" w="1887696">
                <a:moveTo>
                  <a:pt x="1887696" y="0"/>
                </a:moveTo>
                <a:lnTo>
                  <a:pt x="0" y="0"/>
                </a:lnTo>
                <a:lnTo>
                  <a:pt x="0" y="1615367"/>
                </a:lnTo>
                <a:lnTo>
                  <a:pt x="1887696" y="1615367"/>
                </a:lnTo>
                <a:lnTo>
                  <a:pt x="1887696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5373858" y="5520076"/>
            <a:ext cx="7540284" cy="802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71"/>
              </a:lnSpc>
              <a:spcBef>
                <a:spcPct val="0"/>
              </a:spcBef>
            </a:pPr>
            <a:r>
              <a:rPr lang="en-US" b="true" sz="4765" spc="-185">
                <a:solidFill>
                  <a:srgbClr val="FF9ADB"/>
                </a:solidFill>
                <a:latin typeface="DM Sans Bold"/>
                <a:ea typeface="DM Sans Bold"/>
                <a:cs typeface="DM Sans Bold"/>
                <a:sym typeface="DM Sans Bold"/>
              </a:rPr>
              <a:t>FOR YOUR</a:t>
            </a:r>
            <a:r>
              <a:rPr lang="en-US" b="true" sz="4765" spc="-185">
                <a:solidFill>
                  <a:srgbClr val="FF9ADB"/>
                </a:solidFill>
                <a:latin typeface="DM Sans Bold"/>
                <a:ea typeface="DM Sans Bold"/>
                <a:cs typeface="DM Sans Bold"/>
                <a:sym typeface="DM Sans Bold"/>
              </a:rPr>
              <a:t> ATTENTION!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6253583" y="8243865"/>
            <a:ext cx="639734" cy="639734"/>
          </a:xfrm>
          <a:custGeom>
            <a:avLst/>
            <a:gdLst/>
            <a:ahLst/>
            <a:cxnLst/>
            <a:rect r="r" b="b" t="t" l="l"/>
            <a:pathLst>
              <a:path h="639734" w="639734">
                <a:moveTo>
                  <a:pt x="0" y="0"/>
                </a:moveTo>
                <a:lnTo>
                  <a:pt x="639734" y="0"/>
                </a:lnTo>
                <a:lnTo>
                  <a:pt x="639734" y="639734"/>
                </a:lnTo>
                <a:lnTo>
                  <a:pt x="0" y="63973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6982551" y="8366882"/>
            <a:ext cx="5280415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883ECD"/>
                </a:solidFill>
                <a:latin typeface="DM Sans Bold"/>
                <a:ea typeface="DM Sans Bold"/>
                <a:cs typeface="DM Sans Bold"/>
                <a:sym typeface="DM Sans Bold"/>
              </a:rPr>
              <a:t>siddharthsadhu28@gmail.com</a:t>
            </a:r>
          </a:p>
        </p:txBody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DAHDvpwflYo</dc:identifier>
  <dcterms:modified xsi:type="dcterms:W3CDTF">2011-08-01T06:04:30Z</dcterms:modified>
  <cp:revision>1</cp:revision>
  <dc:title>Purple Playful Artificial Intelligence Presentation</dc:title>
</cp:coreProperties>
</file>